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24"/>
  </p:notesMasterIdLst>
  <p:sldIdLst>
    <p:sldId id="256" r:id="rId2"/>
    <p:sldId id="257" r:id="rId3"/>
    <p:sldId id="259" r:id="rId4"/>
    <p:sldId id="273" r:id="rId5"/>
    <p:sldId id="260" r:id="rId6"/>
    <p:sldId id="275" r:id="rId7"/>
    <p:sldId id="276" r:id="rId8"/>
    <p:sldId id="261" r:id="rId9"/>
    <p:sldId id="284" r:id="rId10"/>
    <p:sldId id="278" r:id="rId11"/>
    <p:sldId id="285" r:id="rId12"/>
    <p:sldId id="271" r:id="rId13"/>
    <p:sldId id="286" r:id="rId14"/>
    <p:sldId id="277" r:id="rId15"/>
    <p:sldId id="287" r:id="rId16"/>
    <p:sldId id="289" r:id="rId17"/>
    <p:sldId id="290" r:id="rId18"/>
    <p:sldId id="279" r:id="rId19"/>
    <p:sldId id="281" r:id="rId20"/>
    <p:sldId id="283" r:id="rId21"/>
    <p:sldId id="282" r:id="rId22"/>
    <p:sldId id="270"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59">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309" autoAdjust="0"/>
    <p:restoredTop sz="94660"/>
  </p:normalViewPr>
  <p:slideViewPr>
    <p:cSldViewPr snapToGrid="0">
      <p:cViewPr varScale="1">
        <p:scale>
          <a:sx n="78" d="100"/>
          <a:sy n="78" d="100"/>
        </p:scale>
        <p:origin x="499" y="62"/>
      </p:cViewPr>
      <p:guideLst>
        <p:guide orient="horz" pos="2159"/>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0635BCA9-6194-3E76-2E64-CFCB4AF0C8D2}"/>
            </a:ext>
          </a:extLst>
        </p:cNvPr>
        <p:cNvGrpSpPr/>
        <p:nvPr/>
      </p:nvGrpSpPr>
      <p:grpSpPr>
        <a:xfrm>
          <a:off x="0" y="0"/>
          <a:ext cx="0" cy="0"/>
          <a:chOff x="0" y="0"/>
          <a:chExt cx="0" cy="0"/>
        </a:xfrm>
      </p:grpSpPr>
      <p:sp>
        <p:nvSpPr>
          <p:cNvPr id="123" name="Google Shape;123;p4:notes">
            <a:extLst>
              <a:ext uri="{FF2B5EF4-FFF2-40B4-BE49-F238E27FC236}">
                <a16:creationId xmlns:a16="http://schemas.microsoft.com/office/drawing/2014/main" id="{AD850820-F756-A34E-C9E2-E72288C3F83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4:notes">
            <a:extLst>
              <a:ext uri="{FF2B5EF4-FFF2-40B4-BE49-F238E27FC236}">
                <a16:creationId xmlns:a16="http://schemas.microsoft.com/office/drawing/2014/main" id="{A1F97A9E-3B1D-3862-066D-C8B85BA26A6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4493604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a16="http://schemas.microsoft.com/office/drawing/2014/main" id="{D8638AC1-8A90-A0D1-C959-8D38C1217FCE}"/>
            </a:ext>
          </a:extLst>
        </p:cNvPr>
        <p:cNvGrpSpPr/>
        <p:nvPr/>
      </p:nvGrpSpPr>
      <p:grpSpPr>
        <a:xfrm>
          <a:off x="0" y="0"/>
          <a:ext cx="0" cy="0"/>
          <a:chOff x="0" y="0"/>
          <a:chExt cx="0" cy="0"/>
        </a:xfrm>
      </p:grpSpPr>
      <p:sp>
        <p:nvSpPr>
          <p:cNvPr id="145" name="Google Shape;145;p6:notes">
            <a:extLst>
              <a:ext uri="{FF2B5EF4-FFF2-40B4-BE49-F238E27FC236}">
                <a16:creationId xmlns:a16="http://schemas.microsoft.com/office/drawing/2014/main" id="{5A381BB0-9189-7120-2389-437528BAC3D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6:notes">
            <a:extLst>
              <a:ext uri="{FF2B5EF4-FFF2-40B4-BE49-F238E27FC236}">
                <a16:creationId xmlns:a16="http://schemas.microsoft.com/office/drawing/2014/main" id="{2E27B310-99B2-251E-D096-7FFEA70010A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0433947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5"/>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8" name="Google Shape;68;p10"/>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9.jp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306456" y="2817781"/>
            <a:ext cx="11579087" cy="1261976"/>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a:buNone/>
            </a:pPr>
            <a:br>
              <a:rPr lang="en-US" sz="2700" b="1" dirty="0">
                <a:latin typeface="Times New Roman"/>
                <a:ea typeface="Times New Roman"/>
                <a:cs typeface="Times New Roman"/>
                <a:sym typeface="Times New Roman"/>
              </a:rPr>
            </a:br>
            <a:r>
              <a:rPr lang="en-US" sz="2700" b="1" i="1" dirty="0">
                <a:latin typeface="Times New Roman" panose="02020603050405020304" pitchFamily="18" charset="0"/>
                <a:cs typeface="Times New Roman" panose="02020603050405020304" pitchFamily="18" charset="0"/>
              </a:rPr>
              <a:t>Team -  09</a:t>
            </a:r>
            <a:br>
              <a:rPr lang="en-US" sz="2700" b="1" dirty="0">
                <a:latin typeface="Times New Roman" panose="02020603050405020304" pitchFamily="18" charset="0"/>
                <a:ea typeface="Times New Roman"/>
                <a:cs typeface="Times New Roman" panose="02020603050405020304" pitchFamily="18" charset="0"/>
                <a:sym typeface="Times New Roman"/>
              </a:rPr>
            </a:br>
            <a:r>
              <a:rPr lang="en-US" sz="2700" b="1" dirty="0">
                <a:latin typeface="Times New Roman"/>
                <a:ea typeface="Times New Roman"/>
                <a:cs typeface="Times New Roman"/>
                <a:sym typeface="Times New Roman"/>
              </a:rPr>
              <a:t>CSA4351 –Internet Programming for Web App Development</a:t>
            </a:r>
            <a:endParaRPr sz="2700" dirty="0"/>
          </a:p>
        </p:txBody>
      </p:sp>
      <p:sp>
        <p:nvSpPr>
          <p:cNvPr id="89" name="Google Shape;89;p13"/>
          <p:cNvSpPr txBox="1">
            <a:spLocks noGrp="1"/>
          </p:cNvSpPr>
          <p:nvPr>
            <p:ph type="subTitle" idx="1"/>
          </p:nvPr>
        </p:nvSpPr>
        <p:spPr>
          <a:xfrm>
            <a:off x="6587612" y="4226900"/>
            <a:ext cx="5202939" cy="2253473"/>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0C0C0C"/>
              </a:buClr>
              <a:buSzPts val="2600"/>
              <a:buNone/>
            </a:pPr>
            <a:r>
              <a:rPr lang="en-US" sz="2400" b="1" dirty="0">
                <a:solidFill>
                  <a:srgbClr val="0C0C0C"/>
                </a:solidFill>
                <a:latin typeface="Times New Roman"/>
                <a:ea typeface="Times New Roman"/>
                <a:cs typeface="Times New Roman"/>
                <a:sym typeface="Times New Roman"/>
              </a:rPr>
              <a:t>Presented by: </a:t>
            </a:r>
            <a:endParaRPr sz="2400" b="1" dirty="0">
              <a:solidFill>
                <a:srgbClr val="0C0C0C"/>
              </a:solidFill>
              <a:latin typeface="Times New Roman"/>
              <a:ea typeface="Times New Roman"/>
              <a:cs typeface="Times New Roman"/>
              <a:sym typeface="Times New Roman"/>
            </a:endParaRPr>
          </a:p>
          <a:p>
            <a:pPr marL="0" lvl="0" indent="0" algn="ctr" rtl="0">
              <a:spcBef>
                <a:spcPts val="520"/>
              </a:spcBef>
              <a:spcAft>
                <a:spcPts val="0"/>
              </a:spcAft>
              <a:buClr>
                <a:srgbClr val="0C0C0C"/>
              </a:buClr>
              <a:buSzPts val="2600"/>
              <a:buNone/>
            </a:pPr>
            <a:r>
              <a:rPr lang="en-US" sz="2200" dirty="0">
                <a:solidFill>
                  <a:srgbClr val="0C0C0C"/>
                </a:solidFill>
                <a:latin typeface="Times New Roman"/>
                <a:ea typeface="Times New Roman"/>
                <a:cs typeface="Times New Roman"/>
                <a:sym typeface="Times New Roman"/>
              </a:rPr>
              <a:t>P. </a:t>
            </a:r>
            <a:r>
              <a:rPr lang="en-US" sz="2200" dirty="0" err="1">
                <a:solidFill>
                  <a:srgbClr val="0C0C0C"/>
                </a:solidFill>
                <a:latin typeface="Times New Roman"/>
                <a:ea typeface="Times New Roman"/>
                <a:cs typeface="Times New Roman"/>
                <a:sym typeface="Times New Roman"/>
              </a:rPr>
              <a:t>Parthasaradhi</a:t>
            </a:r>
            <a:r>
              <a:rPr lang="en-US" sz="2200" dirty="0">
                <a:solidFill>
                  <a:srgbClr val="0C0C0C"/>
                </a:solidFill>
                <a:latin typeface="Times New Roman"/>
                <a:ea typeface="Times New Roman"/>
                <a:cs typeface="Times New Roman"/>
                <a:sym typeface="Times New Roman"/>
              </a:rPr>
              <a:t> (192372226)</a:t>
            </a:r>
          </a:p>
          <a:p>
            <a:pPr marL="0" indent="0">
              <a:spcBef>
                <a:spcPts val="520"/>
              </a:spcBef>
              <a:buClr>
                <a:srgbClr val="0C0C0C"/>
              </a:buClr>
              <a:buSzPts val="2600"/>
            </a:pPr>
            <a:r>
              <a:rPr lang="en-US" sz="2200" dirty="0">
                <a:solidFill>
                  <a:srgbClr val="0C0C0C"/>
                </a:solidFill>
                <a:latin typeface="Times New Roman"/>
                <a:ea typeface="Times New Roman"/>
                <a:cs typeface="Times New Roman"/>
                <a:sym typeface="Times New Roman"/>
              </a:rPr>
              <a:t>S. Sameer Ahammed (192211941)</a:t>
            </a:r>
          </a:p>
          <a:p>
            <a:pPr marL="0" indent="0">
              <a:spcBef>
                <a:spcPts val="520"/>
              </a:spcBef>
              <a:buClr>
                <a:srgbClr val="0C0C0C"/>
              </a:buClr>
              <a:buSzPts val="2600"/>
            </a:pPr>
            <a:r>
              <a:rPr lang="en-US" sz="2200" dirty="0">
                <a:solidFill>
                  <a:srgbClr val="0C0C0C"/>
                </a:solidFill>
                <a:latin typeface="Times New Roman"/>
                <a:ea typeface="Times New Roman"/>
                <a:cs typeface="Times New Roman"/>
                <a:sym typeface="Times New Roman"/>
              </a:rPr>
              <a:t>V. Veera Lohith Reddy (192311248)</a:t>
            </a:r>
          </a:p>
          <a:p>
            <a:pPr marL="0" indent="0">
              <a:spcBef>
                <a:spcPts val="520"/>
              </a:spcBef>
              <a:buClr>
                <a:srgbClr val="0C0C0C"/>
              </a:buClr>
              <a:buSzPts val="2600"/>
            </a:pPr>
            <a:r>
              <a:rPr lang="en-US" sz="2200" dirty="0">
                <a:solidFill>
                  <a:srgbClr val="0C0C0C"/>
                </a:solidFill>
                <a:latin typeface="Times New Roman"/>
                <a:ea typeface="Times New Roman"/>
                <a:cs typeface="Times New Roman"/>
                <a:sym typeface="Times New Roman"/>
              </a:rPr>
              <a:t>B. Jagan Mohan Reddy (192311144)</a:t>
            </a:r>
          </a:p>
          <a:p>
            <a:pPr marL="0" indent="0">
              <a:spcBef>
                <a:spcPts val="520"/>
              </a:spcBef>
              <a:buClr>
                <a:srgbClr val="0C0C0C"/>
              </a:buClr>
              <a:buSzPts val="2600"/>
            </a:pPr>
            <a:r>
              <a:rPr lang="en-US" sz="2200" dirty="0">
                <a:solidFill>
                  <a:srgbClr val="0C0C0C"/>
                </a:solidFill>
                <a:latin typeface="Times New Roman"/>
                <a:ea typeface="Times New Roman"/>
                <a:cs typeface="Times New Roman"/>
                <a:sym typeface="Times New Roman"/>
              </a:rPr>
              <a:t>M. Jaswanth (192110642)</a:t>
            </a:r>
          </a:p>
        </p:txBody>
      </p:sp>
      <p:pic>
        <p:nvPicPr>
          <p:cNvPr id="90" name="Google Shape;90;p13"/>
          <p:cNvPicPr preferRelativeResize="0"/>
          <p:nvPr/>
        </p:nvPicPr>
        <p:blipFill rotWithShape="1">
          <a:blip r:embed="rId3">
            <a:alphaModFix/>
          </a:blip>
          <a:srcRect/>
          <a:stretch/>
        </p:blipFill>
        <p:spPr>
          <a:xfrm>
            <a:off x="1024331" y="475651"/>
            <a:ext cx="1135117" cy="1342884"/>
          </a:xfrm>
          <a:prstGeom prst="rect">
            <a:avLst/>
          </a:prstGeom>
          <a:noFill/>
          <a:ln>
            <a:noFill/>
          </a:ln>
        </p:spPr>
      </p:pic>
      <p:pic>
        <p:nvPicPr>
          <p:cNvPr id="91" name="Google Shape;91;p13"/>
          <p:cNvPicPr preferRelativeResize="0"/>
          <p:nvPr/>
        </p:nvPicPr>
        <p:blipFill rotWithShape="1">
          <a:blip r:embed="rId4">
            <a:alphaModFix/>
          </a:blip>
          <a:srcRect/>
          <a:stretch/>
        </p:blipFill>
        <p:spPr>
          <a:xfrm>
            <a:off x="9647555" y="328508"/>
            <a:ext cx="1520114" cy="1342884"/>
          </a:xfrm>
          <a:prstGeom prst="rect">
            <a:avLst/>
          </a:prstGeom>
          <a:noFill/>
          <a:ln>
            <a:noFill/>
          </a:ln>
        </p:spPr>
      </p:pic>
      <p:sp>
        <p:nvSpPr>
          <p:cNvPr id="92" name="Google Shape;92;p13"/>
          <p:cNvSpPr txBox="1"/>
          <p:nvPr/>
        </p:nvSpPr>
        <p:spPr>
          <a:xfrm>
            <a:off x="1024331" y="4226900"/>
            <a:ext cx="4161709" cy="1138733"/>
          </a:xfrm>
          <a:prstGeom prst="rect">
            <a:avLst/>
          </a:prstGeom>
          <a:noFill/>
          <a:ln>
            <a:noFill/>
          </a:ln>
        </p:spPr>
        <p:txBody>
          <a:bodyPr spcFirstLastPara="1" wrap="square" lIns="91425" tIns="45700" rIns="91425" bIns="45700" anchor="t" anchorCtr="0">
            <a:spAutoFit/>
          </a:bodyPr>
          <a:lstStyle/>
          <a:p>
            <a:r>
              <a:rPr lang="en-US" sz="2400" b="1" i="0" u="none" strike="noStrike" cap="none" dirty="0">
                <a:solidFill>
                  <a:schemeClr val="dk1"/>
                </a:solidFill>
                <a:latin typeface="Times New Roman"/>
                <a:ea typeface="Times New Roman"/>
                <a:cs typeface="Times New Roman"/>
                <a:sym typeface="Times New Roman"/>
              </a:rPr>
              <a:t>Guided By</a:t>
            </a:r>
            <a:br>
              <a:rPr lang="en-US" sz="2600" b="0" i="0" u="none" strike="noStrike" cap="none" dirty="0">
                <a:solidFill>
                  <a:schemeClr val="dk1"/>
                </a:solidFill>
                <a:latin typeface="Times New Roman"/>
                <a:ea typeface="Times New Roman"/>
                <a:cs typeface="Times New Roman"/>
                <a:sym typeface="Times New Roman"/>
              </a:rPr>
            </a:br>
            <a:r>
              <a:rPr lang="en-US" sz="2200" dirty="0">
                <a:solidFill>
                  <a:schemeClr val="dk1"/>
                </a:solidFill>
                <a:latin typeface="Times New Roman"/>
                <a:ea typeface="Times New Roman"/>
                <a:cs typeface="Times New Roman"/>
                <a:sym typeface="Times New Roman"/>
              </a:rPr>
              <a:t>Dr. </a:t>
            </a:r>
            <a:r>
              <a:rPr lang="en-US" sz="2200">
                <a:solidFill>
                  <a:schemeClr val="dk1"/>
                </a:solidFill>
                <a:latin typeface="Times New Roman"/>
                <a:ea typeface="Times New Roman"/>
                <a:cs typeface="Times New Roman"/>
                <a:sym typeface="Times New Roman"/>
              </a:rPr>
              <a:t>Sairam A </a:t>
            </a:r>
            <a:r>
              <a:rPr lang="en-US" sz="2200" dirty="0">
                <a:solidFill>
                  <a:schemeClr val="dk1"/>
                </a:solidFill>
                <a:latin typeface="Times New Roman"/>
                <a:ea typeface="Times New Roman"/>
                <a:cs typeface="Times New Roman"/>
                <a:sym typeface="Times New Roman"/>
              </a:rPr>
              <a:t>&amp;</a:t>
            </a:r>
          </a:p>
          <a:p>
            <a:r>
              <a:rPr lang="en-US" sz="2200" dirty="0">
                <a:solidFill>
                  <a:schemeClr val="dk1"/>
                </a:solidFill>
                <a:latin typeface="Times New Roman"/>
                <a:ea typeface="Times New Roman"/>
                <a:cs typeface="Times New Roman"/>
                <a:sym typeface="Times New Roman"/>
              </a:rPr>
              <a:t>Dr.</a:t>
            </a:r>
            <a:r>
              <a:rPr lang="en-US" sz="2200" dirty="0">
                <a:solidFill>
                  <a:schemeClr val="dk1"/>
                </a:solidFill>
                <a:latin typeface="Times New Roman"/>
                <a:cs typeface="Times New Roman"/>
                <a:sym typeface="Times New Roman"/>
              </a:rPr>
              <a:t> Alphonsa J </a:t>
            </a:r>
            <a:endParaRPr sz="2200" dirty="0">
              <a:solidFill>
                <a:schemeClr val="dk1"/>
              </a:solidFill>
              <a:latin typeface="Times New Roman"/>
              <a:cs typeface="Times New Roman"/>
              <a:sym typeface="Times New Roman"/>
            </a:endParaRPr>
          </a:p>
        </p:txBody>
      </p:sp>
      <p:sp>
        <p:nvSpPr>
          <p:cNvPr id="94" name="Google Shape;94;p13"/>
          <p:cNvSpPr txBox="1"/>
          <p:nvPr/>
        </p:nvSpPr>
        <p:spPr>
          <a:xfrm>
            <a:off x="2544445" y="386715"/>
            <a:ext cx="6684396" cy="113873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chemeClr val="dk1"/>
                </a:solidFill>
                <a:latin typeface="Times New Roman"/>
                <a:ea typeface="Times New Roman"/>
                <a:cs typeface="Times New Roman"/>
                <a:sym typeface="Times New Roman"/>
              </a:rPr>
              <a:t>SIMATS ENGINEERING</a:t>
            </a:r>
          </a:p>
          <a:p>
            <a:pPr marL="0" marR="0" lvl="0" indent="0" algn="ctr" rtl="0">
              <a:spcBef>
                <a:spcPts val="0"/>
              </a:spcBef>
              <a:spcAft>
                <a:spcPts val="0"/>
              </a:spcAft>
              <a:buNone/>
            </a:pPr>
            <a:r>
              <a:rPr lang="en-US" sz="2000" b="1" dirty="0">
                <a:solidFill>
                  <a:schemeClr val="dk1"/>
                </a:solidFill>
                <a:latin typeface="Times New Roman"/>
                <a:ea typeface="Times New Roman"/>
                <a:cs typeface="Times New Roman"/>
                <a:sym typeface="Times New Roman"/>
              </a:rPr>
              <a:t>SAVEETHA INSTITUTE OF MEDICAL AND TECHNICAL SCIENCES</a:t>
            </a:r>
            <a:endParaRPr sz="2000" b="1" dirty="0">
              <a:solidFill>
                <a:schemeClr val="dk1"/>
              </a:solidFill>
              <a:latin typeface="Times New Roman"/>
              <a:ea typeface="Times New Roman"/>
              <a:cs typeface="Times New Roman"/>
              <a:sym typeface="Times New Roman"/>
            </a:endParaRPr>
          </a:p>
        </p:txBody>
      </p:sp>
      <p:sp>
        <p:nvSpPr>
          <p:cNvPr id="2" name="Google Shape;93;p13">
            <a:extLst>
              <a:ext uri="{FF2B5EF4-FFF2-40B4-BE49-F238E27FC236}">
                <a16:creationId xmlns:a16="http://schemas.microsoft.com/office/drawing/2014/main" id="{2103D122-A75B-46D4-D990-9111A6FEA80F}"/>
              </a:ext>
            </a:extLst>
          </p:cNvPr>
          <p:cNvSpPr txBox="1"/>
          <p:nvPr/>
        </p:nvSpPr>
        <p:spPr>
          <a:xfrm>
            <a:off x="2365731" y="1671392"/>
            <a:ext cx="7041823"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dk1"/>
                </a:solidFill>
                <a:latin typeface="Times New Roman"/>
                <a:ea typeface="Times New Roman"/>
                <a:cs typeface="Times New Roman"/>
                <a:sym typeface="Times New Roman"/>
              </a:rPr>
              <a:t>Capstone project presentation</a:t>
            </a:r>
          </a:p>
        </p:txBody>
      </p:sp>
      <p:sp>
        <p:nvSpPr>
          <p:cNvPr id="4" name="TextBox 3">
            <a:extLst>
              <a:ext uri="{FF2B5EF4-FFF2-40B4-BE49-F238E27FC236}">
                <a16:creationId xmlns:a16="http://schemas.microsoft.com/office/drawing/2014/main" id="{DAA82F64-75D4-2458-4A2F-F589B837080E}"/>
              </a:ext>
            </a:extLst>
          </p:cNvPr>
          <p:cNvSpPr txBox="1"/>
          <p:nvPr/>
        </p:nvSpPr>
        <p:spPr>
          <a:xfrm>
            <a:off x="1884852" y="2670638"/>
            <a:ext cx="9405521" cy="461665"/>
          </a:xfrm>
          <a:prstGeom prst="rect">
            <a:avLst/>
          </a:prstGeom>
          <a:noFill/>
        </p:spPr>
        <p:txBody>
          <a:bodyPr wrap="square" rtlCol="0">
            <a:spAutoFit/>
          </a:bodyPr>
          <a:lstStyle/>
          <a:p>
            <a:r>
              <a:rPr lang="en-IN" sz="2400" b="1" dirty="0">
                <a:solidFill>
                  <a:srgbClr val="FF0000"/>
                </a:solidFill>
                <a:latin typeface="Times New Roman" panose="02020603050405020304" pitchFamily="18" charset="0"/>
                <a:cs typeface="Times New Roman" panose="02020603050405020304" pitchFamily="18" charset="0"/>
              </a:rPr>
              <a:t>Smart Hospital Resource and Appointment  Management Portal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sz="3200" b="1" dirty="0">
                <a:solidFill>
                  <a:srgbClr val="FF0000"/>
                </a:solidFill>
                <a:latin typeface="Times New Roman"/>
                <a:ea typeface="Times New Roman"/>
                <a:cs typeface="Times New Roman"/>
                <a:sym typeface="Times New Roman"/>
              </a:rPr>
              <a:t>INTRODUCTION</a:t>
            </a:r>
          </a:p>
        </p:txBody>
      </p:sp>
      <p:sp>
        <p:nvSpPr>
          <p:cNvPr id="100" name="Google Shape;100;p14"/>
          <p:cNvSpPr txBox="1">
            <a:spLocks noGrp="1"/>
          </p:cNvSpPr>
          <p:nvPr>
            <p:ph type="body" idx="1"/>
          </p:nvPr>
        </p:nvSpPr>
        <p:spPr>
          <a:xfrm>
            <a:off x="830826" y="1756750"/>
            <a:ext cx="10225548" cy="4782163"/>
          </a:xfrm>
          <a:prstGeom prst="rect">
            <a:avLst/>
          </a:prstGeom>
          <a:noFill/>
          <a:ln>
            <a:noFill/>
          </a:ln>
        </p:spPr>
        <p:txBody>
          <a:bodyPr spcFirstLastPara="1" wrap="square" lIns="91425" tIns="45700" rIns="91425" bIns="45700" anchor="t" anchorCtr="0">
            <a:noAutofit/>
          </a:bodyPr>
          <a:lstStyle/>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The Smart Hospital Resource and Appointment Management Portal is a web-based system designed to automate and streamline hospital management processes.</a:t>
            </a:r>
          </a:p>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It provides a centralized platform for maintaining patient records and managing appointment scheduling efficiently.</a:t>
            </a:r>
          </a:p>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The system helps track doctor and staff availability, reducing scheduling conflicts and improving workforce management.</a:t>
            </a:r>
          </a:p>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It monitors hospital resources such as beds, medical equipment, and facilities to ensure their effective utilization.</a:t>
            </a:r>
          </a:p>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By reducing manual record-keeping and generating administrative reports, the portal improves efficiency, accuracy, and overall patient care.</a:t>
            </a:r>
          </a:p>
        </p:txBody>
      </p:sp>
      <p:pic>
        <p:nvPicPr>
          <p:cNvPr id="101" name="Google Shape;101;p14"/>
          <p:cNvPicPr preferRelativeResize="0"/>
          <p:nvPr/>
        </p:nvPicPr>
        <p:blipFill rotWithShape="1">
          <a:blip r:embed="rId3">
            <a:alphaModFix/>
          </a:blip>
          <a:srcRect/>
          <a:stretch/>
        </p:blipFill>
        <p:spPr>
          <a:xfrm>
            <a:off x="357352" y="191626"/>
            <a:ext cx="1135117" cy="1342884"/>
          </a:xfrm>
          <a:prstGeom prst="rect">
            <a:avLst/>
          </a:prstGeom>
          <a:noFill/>
          <a:ln>
            <a:noFill/>
          </a:ln>
        </p:spPr>
      </p:pic>
      <p:pic>
        <p:nvPicPr>
          <p:cNvPr id="102" name="Google Shape;102;p14"/>
          <p:cNvPicPr preferRelativeResize="0"/>
          <p:nvPr/>
        </p:nvPicPr>
        <p:blipFill rotWithShape="1">
          <a:blip r:embed="rId4">
            <a:alphaModFix/>
          </a:blip>
          <a:srcRect/>
          <a:stretch/>
        </p:blipFill>
        <p:spPr>
          <a:xfrm>
            <a:off x="10514231" y="191626"/>
            <a:ext cx="1520114" cy="1342884"/>
          </a:xfrm>
          <a:prstGeom prst="rect">
            <a:avLst/>
          </a:prstGeom>
          <a:noFill/>
          <a:ln>
            <a:noFill/>
          </a:ln>
        </p:spPr>
      </p:pic>
      <p:sp>
        <p:nvSpPr>
          <p:cNvPr id="103" name="Google Shape;103;p14" descr="How to Build an Online Food Ordering System [Complete Guide]"/>
          <p:cNvSpPr/>
          <p:nvPr/>
        </p:nvSpPr>
        <p:spPr>
          <a:xfrm>
            <a:off x="6892414" y="2133600"/>
            <a:ext cx="5034116" cy="321514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4" name="Google Shape;104;p14" descr="How to Build an Online Food Ordering System [Complete Guide]"/>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5" name="Google Shape;105;p14" descr="How to Build an Online Food Ordering System [Complete Guide]"/>
          <p:cNvSpPr/>
          <p:nvPr/>
        </p:nvSpPr>
        <p:spPr>
          <a:xfrm>
            <a:off x="6096000" y="34290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8" name="Google Shape;108;p1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sz="3200" b="1" dirty="0">
                <a:solidFill>
                  <a:srgbClr val="FF0000"/>
                </a:solidFill>
                <a:latin typeface="Times New Roman"/>
                <a:ea typeface="Times New Roman"/>
                <a:cs typeface="Times New Roman"/>
                <a:sym typeface="Times New Roman"/>
              </a:rPr>
              <a:t>OBJECTIVES</a:t>
            </a:r>
          </a:p>
        </p:txBody>
      </p:sp>
      <p:sp>
        <p:nvSpPr>
          <p:cNvPr id="127" name="Google Shape;127;p16"/>
          <p:cNvSpPr txBox="1">
            <a:spLocks noGrp="1"/>
          </p:cNvSpPr>
          <p:nvPr>
            <p:ph type="body" idx="1"/>
          </p:nvPr>
        </p:nvSpPr>
        <p:spPr>
          <a:xfrm>
            <a:off x="767255" y="2152680"/>
            <a:ext cx="11424745" cy="4086799"/>
          </a:xfrm>
          <a:prstGeom prst="rect">
            <a:avLst/>
          </a:prstGeom>
          <a:noFill/>
          <a:ln>
            <a:noFill/>
          </a:ln>
        </p:spPr>
        <p:txBody>
          <a:bodyPr spcFirstLastPara="1" wrap="square" lIns="91425" tIns="45700" rIns="91425" bIns="45700" anchor="t" anchorCtr="0">
            <a:normAutofit/>
          </a:bodyPr>
          <a:lstStyle/>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To develop a centralized system for managing patient records, doctor information, and appointments.</a:t>
            </a:r>
          </a:p>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To automate appointment scheduling and reduce booking conflicts.</a:t>
            </a:r>
          </a:p>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To efficiently manage hospital resources such as beds, rooms, and medical equipment.</a:t>
            </a:r>
          </a:p>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To monitor doctor and staff availability for better workforce management.</a:t>
            </a:r>
          </a:p>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To improve data accuracy, accessibility, and security through digital record management.</a:t>
            </a:r>
          </a:p>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To generate reports and analytics that support administrative decision-making.</a:t>
            </a:r>
          </a:p>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To enhance operational efficiency and improve the overall patient experience.</a:t>
            </a:r>
            <a:endParaRPr lang="en-US" sz="1800" dirty="0">
              <a:latin typeface="Times New Roman" panose="02020603050405020304" pitchFamily="18" charset="0"/>
              <a:cs typeface="Times New Roman" panose="02020603050405020304" pitchFamily="18" charset="0"/>
            </a:endParaRPr>
          </a:p>
        </p:txBody>
      </p:sp>
      <p:pic>
        <p:nvPicPr>
          <p:cNvPr id="128" name="Google Shape;128;p16"/>
          <p:cNvPicPr preferRelativeResize="0"/>
          <p:nvPr/>
        </p:nvPicPr>
        <p:blipFill rotWithShape="1">
          <a:blip r:embed="rId3">
            <a:alphaModFix/>
          </a:blip>
          <a:srcRect/>
          <a:stretch/>
        </p:blipFill>
        <p:spPr>
          <a:xfrm>
            <a:off x="357352" y="191626"/>
            <a:ext cx="1135117" cy="1342884"/>
          </a:xfrm>
          <a:prstGeom prst="rect">
            <a:avLst/>
          </a:prstGeom>
          <a:noFill/>
          <a:ln>
            <a:noFill/>
          </a:ln>
        </p:spPr>
      </p:pic>
      <p:pic>
        <p:nvPicPr>
          <p:cNvPr id="129" name="Google Shape;129;p16"/>
          <p:cNvPicPr preferRelativeResize="0"/>
          <p:nvPr/>
        </p:nvPicPr>
        <p:blipFill rotWithShape="1">
          <a:blip r:embed="rId4">
            <a:alphaModFix/>
          </a:blip>
          <a:srcRect/>
          <a:stretch/>
        </p:blipFill>
        <p:spPr>
          <a:xfrm>
            <a:off x="10514231" y="191626"/>
            <a:ext cx="1520114" cy="1342884"/>
          </a:xfrm>
          <a:prstGeom prst="rect">
            <a:avLst/>
          </a:prstGeom>
          <a:noFill/>
          <a:ln>
            <a:noFill/>
          </a:ln>
        </p:spPr>
      </p:pic>
      <p:sp>
        <p:nvSpPr>
          <p:cNvPr id="132" name="Google Shape;132;p1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7A659B05-FA30-4A6F-E732-EF5B2881C9CE}"/>
            </a:ext>
          </a:extLst>
        </p:cNvPr>
        <p:cNvGrpSpPr/>
        <p:nvPr/>
      </p:nvGrpSpPr>
      <p:grpSpPr>
        <a:xfrm>
          <a:off x="0" y="0"/>
          <a:ext cx="0" cy="0"/>
          <a:chOff x="0" y="0"/>
          <a:chExt cx="0" cy="0"/>
        </a:xfrm>
      </p:grpSpPr>
      <p:sp>
        <p:nvSpPr>
          <p:cNvPr id="126" name="Google Shape;126;p16">
            <a:extLst>
              <a:ext uri="{FF2B5EF4-FFF2-40B4-BE49-F238E27FC236}">
                <a16:creationId xmlns:a16="http://schemas.microsoft.com/office/drawing/2014/main" id="{02D20143-6C3F-8CE7-0C14-8D713BDCBA1B}"/>
              </a:ext>
            </a:extLst>
          </p:cNvPr>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sz="3200" b="1" dirty="0">
                <a:solidFill>
                  <a:srgbClr val="FF0000"/>
                </a:solidFill>
                <a:latin typeface="Times New Roman"/>
                <a:ea typeface="Times New Roman"/>
                <a:cs typeface="Times New Roman"/>
                <a:sym typeface="Times New Roman"/>
              </a:rPr>
              <a:t>PROBLEM STATEMENT</a:t>
            </a:r>
          </a:p>
        </p:txBody>
      </p:sp>
      <p:sp>
        <p:nvSpPr>
          <p:cNvPr id="127" name="Google Shape;127;p16">
            <a:extLst>
              <a:ext uri="{FF2B5EF4-FFF2-40B4-BE49-F238E27FC236}">
                <a16:creationId xmlns:a16="http://schemas.microsoft.com/office/drawing/2014/main" id="{27E76A91-BD24-02C5-8D85-A30678C085B3}"/>
              </a:ext>
            </a:extLst>
          </p:cNvPr>
          <p:cNvSpPr txBox="1">
            <a:spLocks noGrp="1"/>
          </p:cNvSpPr>
          <p:nvPr>
            <p:ph type="body" idx="1"/>
          </p:nvPr>
        </p:nvSpPr>
        <p:spPr>
          <a:xfrm>
            <a:off x="960248" y="1721195"/>
            <a:ext cx="10314040" cy="5220826"/>
          </a:xfrm>
          <a:prstGeom prst="rect">
            <a:avLst/>
          </a:prstGeom>
          <a:noFill/>
          <a:ln>
            <a:noFill/>
          </a:ln>
        </p:spPr>
        <p:txBody>
          <a:bodyPr spcFirstLastPara="1" wrap="square" lIns="91425" tIns="45700" rIns="91425" bIns="45700" anchor="t" anchorCtr="0">
            <a:normAutofit/>
          </a:bodyPr>
          <a:lstStyle/>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Hospitals often use disconnected systems or manual methods to manage appointments, doctor schedules, and hospital resources, leading to inefficiencies.</a:t>
            </a:r>
          </a:p>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Manual management can cause appointment conflicts, long patient waiting times, and difficulties in tracking patient and staff information.</a:t>
            </a:r>
          </a:p>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Separate management of beds, rooms, and medical equipment results in poor resource allocation and reduced operational efficiency.</a:t>
            </a:r>
          </a:p>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Data inconsistencies and lack of centralized information can affect decision-making and the quality of patient care.</a:t>
            </a:r>
          </a:p>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The Smart Hospital Resource and Appointment Management Portal provides a centralized solution to manage appointments, staff availability, patient records, and hospital resources, improving efficiency, accuracy, and overall healthcare services.</a:t>
            </a:r>
            <a:endParaRPr sz="1800" dirty="0">
              <a:latin typeface="Times New Roman" panose="02020603050405020304" pitchFamily="18" charset="0"/>
              <a:ea typeface="Times New Roman"/>
              <a:cs typeface="Times New Roman" panose="02020603050405020304" pitchFamily="18" charset="0"/>
              <a:sym typeface="Times New Roman"/>
            </a:endParaRPr>
          </a:p>
        </p:txBody>
      </p:sp>
      <p:pic>
        <p:nvPicPr>
          <p:cNvPr id="128" name="Google Shape;128;p16">
            <a:extLst>
              <a:ext uri="{FF2B5EF4-FFF2-40B4-BE49-F238E27FC236}">
                <a16:creationId xmlns:a16="http://schemas.microsoft.com/office/drawing/2014/main" id="{C0FE54E5-A8DD-9A8F-71CC-9CD7CEB10E9A}"/>
              </a:ext>
            </a:extLst>
          </p:cNvPr>
          <p:cNvPicPr preferRelativeResize="0"/>
          <p:nvPr/>
        </p:nvPicPr>
        <p:blipFill rotWithShape="1">
          <a:blip r:embed="rId3">
            <a:alphaModFix/>
          </a:blip>
          <a:srcRect/>
          <a:stretch/>
        </p:blipFill>
        <p:spPr>
          <a:xfrm>
            <a:off x="357352" y="191626"/>
            <a:ext cx="1135117" cy="1342884"/>
          </a:xfrm>
          <a:prstGeom prst="rect">
            <a:avLst/>
          </a:prstGeom>
          <a:noFill/>
          <a:ln>
            <a:noFill/>
          </a:ln>
        </p:spPr>
      </p:pic>
      <p:pic>
        <p:nvPicPr>
          <p:cNvPr id="129" name="Google Shape;129;p16">
            <a:extLst>
              <a:ext uri="{FF2B5EF4-FFF2-40B4-BE49-F238E27FC236}">
                <a16:creationId xmlns:a16="http://schemas.microsoft.com/office/drawing/2014/main" id="{6DA8BE71-D361-6A7F-126E-BEF1E823DA05}"/>
              </a:ext>
            </a:extLst>
          </p:cNvPr>
          <p:cNvPicPr preferRelativeResize="0"/>
          <p:nvPr/>
        </p:nvPicPr>
        <p:blipFill rotWithShape="1">
          <a:blip r:embed="rId4">
            <a:alphaModFix/>
          </a:blip>
          <a:srcRect/>
          <a:stretch/>
        </p:blipFill>
        <p:spPr>
          <a:xfrm>
            <a:off x="10514231" y="191626"/>
            <a:ext cx="1520114" cy="1342884"/>
          </a:xfrm>
          <a:prstGeom prst="rect">
            <a:avLst/>
          </a:prstGeom>
          <a:noFill/>
          <a:ln>
            <a:noFill/>
          </a:ln>
        </p:spPr>
      </p:pic>
      <p:sp>
        <p:nvSpPr>
          <p:cNvPr id="132" name="Google Shape;132;p16">
            <a:extLst>
              <a:ext uri="{FF2B5EF4-FFF2-40B4-BE49-F238E27FC236}">
                <a16:creationId xmlns:a16="http://schemas.microsoft.com/office/drawing/2014/main" id="{1C2B5A3D-4DBD-8664-22FB-64B0C673FF70}"/>
              </a:ext>
            </a:extLst>
          </p:cNvPr>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1863350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sz="3200" b="1" dirty="0">
                <a:solidFill>
                  <a:srgbClr val="FF0000"/>
                </a:solidFill>
                <a:latin typeface="Times New Roman"/>
                <a:ea typeface="Times New Roman"/>
                <a:cs typeface="Times New Roman"/>
                <a:sym typeface="Times New Roman"/>
              </a:rPr>
              <a:t>METHODOLOGY</a:t>
            </a:r>
          </a:p>
        </p:txBody>
      </p:sp>
      <p:sp>
        <p:nvSpPr>
          <p:cNvPr id="138" name="Google Shape;138;p17"/>
          <p:cNvSpPr txBox="1">
            <a:spLocks noGrp="1"/>
          </p:cNvSpPr>
          <p:nvPr>
            <p:ph type="body" idx="1"/>
          </p:nvPr>
        </p:nvSpPr>
        <p:spPr>
          <a:xfrm>
            <a:off x="973394" y="1682434"/>
            <a:ext cx="10323872" cy="5039042"/>
          </a:xfrm>
          <a:prstGeom prst="rect">
            <a:avLst/>
          </a:prstGeom>
          <a:noFill/>
          <a:ln>
            <a:noFill/>
          </a:ln>
        </p:spPr>
        <p:txBody>
          <a:bodyPr spcFirstLastPara="1" wrap="square" lIns="91425" tIns="45700" rIns="91425" bIns="45700" anchor="t" anchorCtr="0">
            <a:noAutofit/>
          </a:bodyPr>
          <a:lstStyle/>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Requirement Analysis: Gather and </a:t>
            </a:r>
            <a:r>
              <a:rPr lang="en-GB" sz="1800" dirty="0" err="1">
                <a:latin typeface="Times New Roman" panose="02020603050405020304" pitchFamily="18" charset="0"/>
                <a:cs typeface="Times New Roman" panose="02020603050405020304" pitchFamily="18" charset="0"/>
              </a:rPr>
              <a:t>analyze</a:t>
            </a:r>
            <a:r>
              <a:rPr lang="en-GB" sz="1800" dirty="0">
                <a:latin typeface="Times New Roman" panose="02020603050405020304" pitchFamily="18" charset="0"/>
                <a:cs typeface="Times New Roman" panose="02020603050405020304" pitchFamily="18" charset="0"/>
              </a:rPr>
              <a:t> the requirements for patient management, appointment scheduling, resource allocation, and administrative functions.</a:t>
            </a:r>
          </a:p>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System Design: Design the system architecture, database schema, user interfaces, and workflow for each module.</a:t>
            </a:r>
          </a:p>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Database Development: Create and manage databases for patients, doctors, appointments, staff schedules, and hospital resources.</a:t>
            </a:r>
          </a:p>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Module Implementation: Develop modules for Patient and Appointment Logging, Doctor and Staff Schedule Management, Hospital Resource Management, and Administration Dashboard.</a:t>
            </a:r>
          </a:p>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Data Validation and Integration: Implement validation checks and integrate all modules into a centralized platform.</a:t>
            </a:r>
            <a:endParaRPr lang="en-US" sz="1800" dirty="0">
              <a:latin typeface="Times New Roman" panose="02020603050405020304" pitchFamily="18" charset="0"/>
              <a:cs typeface="Times New Roman" panose="02020603050405020304" pitchFamily="18" charset="0"/>
            </a:endParaRPr>
          </a:p>
        </p:txBody>
      </p:sp>
      <p:pic>
        <p:nvPicPr>
          <p:cNvPr id="139" name="Google Shape;139;p17"/>
          <p:cNvPicPr preferRelativeResize="0"/>
          <p:nvPr/>
        </p:nvPicPr>
        <p:blipFill rotWithShape="1">
          <a:blip r:embed="rId3">
            <a:alphaModFix/>
          </a:blip>
          <a:srcRect/>
          <a:stretch/>
        </p:blipFill>
        <p:spPr>
          <a:xfrm>
            <a:off x="395452" y="104916"/>
            <a:ext cx="1223798" cy="1269682"/>
          </a:xfrm>
          <a:prstGeom prst="rect">
            <a:avLst/>
          </a:prstGeom>
          <a:noFill/>
          <a:ln>
            <a:noFill/>
          </a:ln>
        </p:spPr>
      </p:pic>
      <p:pic>
        <p:nvPicPr>
          <p:cNvPr id="140" name="Google Shape;140;p17"/>
          <p:cNvPicPr preferRelativeResize="0"/>
          <p:nvPr/>
        </p:nvPicPr>
        <p:blipFill rotWithShape="1">
          <a:blip r:embed="rId4">
            <a:alphaModFix/>
          </a:blip>
          <a:srcRect/>
          <a:stretch/>
        </p:blipFill>
        <p:spPr>
          <a:xfrm>
            <a:off x="10276434" y="33337"/>
            <a:ext cx="1520114" cy="1342884"/>
          </a:xfrm>
          <a:prstGeom prst="rect">
            <a:avLst/>
          </a:prstGeom>
          <a:noFill/>
          <a:ln>
            <a:noFill/>
          </a:ln>
        </p:spPr>
      </p:pic>
      <p:sp>
        <p:nvSpPr>
          <p:cNvPr id="143" name="Google Shape;143;p1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77E2EA8-008B-C932-0545-65155097495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4" name="TextBox 3">
            <a:extLst>
              <a:ext uri="{FF2B5EF4-FFF2-40B4-BE49-F238E27FC236}">
                <a16:creationId xmlns:a16="http://schemas.microsoft.com/office/drawing/2014/main" id="{B36A6E61-64F9-A6DB-1576-30F7B1EC61F7}"/>
              </a:ext>
            </a:extLst>
          </p:cNvPr>
          <p:cNvSpPr txBox="1"/>
          <p:nvPr/>
        </p:nvSpPr>
        <p:spPr>
          <a:xfrm>
            <a:off x="1930400" y="467899"/>
            <a:ext cx="8229600" cy="584775"/>
          </a:xfrm>
          <a:prstGeom prst="rect">
            <a:avLst/>
          </a:prstGeom>
          <a:noFill/>
        </p:spPr>
        <p:txBody>
          <a:bodyPr wrap="square" rtlCol="0">
            <a:spAutoFit/>
          </a:bodyPr>
          <a:lstStyle/>
          <a:p>
            <a:pPr algn="ctr"/>
            <a:r>
              <a:rPr lang="en-IN" sz="3200" b="1" dirty="0">
                <a:solidFill>
                  <a:srgbClr val="FF0000"/>
                </a:solidFill>
                <a:latin typeface="Times New Roman" panose="02020603050405020304" pitchFamily="18" charset="0"/>
                <a:cs typeface="Times New Roman" panose="02020603050405020304" pitchFamily="18" charset="0"/>
              </a:rPr>
              <a:t>Literature Review</a:t>
            </a:r>
          </a:p>
        </p:txBody>
      </p:sp>
      <p:pic>
        <p:nvPicPr>
          <p:cNvPr id="5" name="Google Shape;153;p18">
            <a:extLst>
              <a:ext uri="{FF2B5EF4-FFF2-40B4-BE49-F238E27FC236}">
                <a16:creationId xmlns:a16="http://schemas.microsoft.com/office/drawing/2014/main" id="{15F28B13-0353-4087-DA8C-C6FCD0211538}"/>
              </a:ext>
            </a:extLst>
          </p:cNvPr>
          <p:cNvPicPr preferRelativeResize="0"/>
          <p:nvPr/>
        </p:nvPicPr>
        <p:blipFill rotWithShape="1">
          <a:blip r:embed="rId2">
            <a:alphaModFix/>
          </a:blip>
          <a:srcRect/>
          <a:stretch/>
        </p:blipFill>
        <p:spPr>
          <a:xfrm>
            <a:off x="280728" y="0"/>
            <a:ext cx="1135117" cy="1342884"/>
          </a:xfrm>
          <a:prstGeom prst="rect">
            <a:avLst/>
          </a:prstGeom>
          <a:noFill/>
          <a:ln>
            <a:noFill/>
          </a:ln>
        </p:spPr>
      </p:pic>
      <p:pic>
        <p:nvPicPr>
          <p:cNvPr id="6" name="Google Shape;140;p17">
            <a:extLst>
              <a:ext uri="{FF2B5EF4-FFF2-40B4-BE49-F238E27FC236}">
                <a16:creationId xmlns:a16="http://schemas.microsoft.com/office/drawing/2014/main" id="{68FBCC4A-1977-4F4D-0DE3-BCA51DDDDA00}"/>
              </a:ext>
            </a:extLst>
          </p:cNvPr>
          <p:cNvPicPr preferRelativeResize="0"/>
          <p:nvPr/>
        </p:nvPicPr>
        <p:blipFill rotWithShape="1">
          <a:blip r:embed="rId3">
            <a:alphaModFix/>
          </a:blip>
          <a:srcRect/>
          <a:stretch/>
        </p:blipFill>
        <p:spPr>
          <a:xfrm>
            <a:off x="10588312" y="32656"/>
            <a:ext cx="1520114" cy="1342884"/>
          </a:xfrm>
          <a:prstGeom prst="rect">
            <a:avLst/>
          </a:prstGeom>
          <a:noFill/>
          <a:ln>
            <a:noFill/>
          </a:ln>
        </p:spPr>
      </p:pic>
      <p:graphicFrame>
        <p:nvGraphicFramePr>
          <p:cNvPr id="7" name="Table 6">
            <a:extLst>
              <a:ext uri="{FF2B5EF4-FFF2-40B4-BE49-F238E27FC236}">
                <a16:creationId xmlns:a16="http://schemas.microsoft.com/office/drawing/2014/main" id="{0B914C2D-552B-9FB8-3757-7F7C1901061A}"/>
              </a:ext>
            </a:extLst>
          </p:cNvPr>
          <p:cNvGraphicFramePr>
            <a:graphicFrameLocks noGrp="1"/>
          </p:cNvGraphicFramePr>
          <p:nvPr>
            <p:extLst>
              <p:ext uri="{D42A27DB-BD31-4B8C-83A1-F6EECF244321}">
                <p14:modId xmlns:p14="http://schemas.microsoft.com/office/powerpoint/2010/main" val="3606516143"/>
              </p:ext>
            </p:extLst>
          </p:nvPr>
        </p:nvGraphicFramePr>
        <p:xfrm>
          <a:off x="280728" y="1479408"/>
          <a:ext cx="11704795" cy="5287565"/>
        </p:xfrm>
        <a:graphic>
          <a:graphicData uri="http://schemas.openxmlformats.org/drawingml/2006/table">
            <a:tbl>
              <a:tblPr firstRow="1" bandRow="1">
                <a:tableStyleId>{5940675A-B579-460E-94D1-54222C63F5DA}</a:tableStyleId>
              </a:tblPr>
              <a:tblGrid>
                <a:gridCol w="415854">
                  <a:extLst>
                    <a:ext uri="{9D8B030D-6E8A-4147-A177-3AD203B41FA5}">
                      <a16:colId xmlns:a16="http://schemas.microsoft.com/office/drawing/2014/main" val="2665011896"/>
                    </a:ext>
                  </a:extLst>
                </a:gridCol>
                <a:gridCol w="705987">
                  <a:extLst>
                    <a:ext uri="{9D8B030D-6E8A-4147-A177-3AD203B41FA5}">
                      <a16:colId xmlns:a16="http://schemas.microsoft.com/office/drawing/2014/main" val="3718339567"/>
                    </a:ext>
                  </a:extLst>
                </a:gridCol>
                <a:gridCol w="2557995">
                  <a:extLst>
                    <a:ext uri="{9D8B030D-6E8A-4147-A177-3AD203B41FA5}">
                      <a16:colId xmlns:a16="http://schemas.microsoft.com/office/drawing/2014/main" val="4087239345"/>
                    </a:ext>
                  </a:extLst>
                </a:gridCol>
                <a:gridCol w="1373290">
                  <a:extLst>
                    <a:ext uri="{9D8B030D-6E8A-4147-A177-3AD203B41FA5}">
                      <a16:colId xmlns:a16="http://schemas.microsoft.com/office/drawing/2014/main" val="564777581"/>
                    </a:ext>
                  </a:extLst>
                </a:gridCol>
                <a:gridCol w="2814276">
                  <a:extLst>
                    <a:ext uri="{9D8B030D-6E8A-4147-A177-3AD203B41FA5}">
                      <a16:colId xmlns:a16="http://schemas.microsoft.com/office/drawing/2014/main" val="2610744354"/>
                    </a:ext>
                  </a:extLst>
                </a:gridCol>
                <a:gridCol w="2098618">
                  <a:extLst>
                    <a:ext uri="{9D8B030D-6E8A-4147-A177-3AD203B41FA5}">
                      <a16:colId xmlns:a16="http://schemas.microsoft.com/office/drawing/2014/main" val="2184978419"/>
                    </a:ext>
                  </a:extLst>
                </a:gridCol>
                <a:gridCol w="1738775">
                  <a:extLst>
                    <a:ext uri="{9D8B030D-6E8A-4147-A177-3AD203B41FA5}">
                      <a16:colId xmlns:a16="http://schemas.microsoft.com/office/drawing/2014/main" val="1040259503"/>
                    </a:ext>
                  </a:extLst>
                </a:gridCol>
              </a:tblGrid>
              <a:tr h="397436">
                <a:tc>
                  <a:txBody>
                    <a:bodyPr/>
                    <a:lstStyle/>
                    <a:p>
                      <a:pPr>
                        <a:buNone/>
                      </a:pPr>
                      <a:r>
                        <a:rPr lang="en-IN" dirty="0">
                          <a:latin typeface="Times New Roman" panose="02020603050405020304" pitchFamily="18" charset="0"/>
                          <a:cs typeface="Times New Roman" panose="02020603050405020304" pitchFamily="18" charset="0"/>
                        </a:rPr>
                        <a:t>No</a:t>
                      </a:r>
                    </a:p>
                  </a:txBody>
                  <a:tcPr anchor="ctr"/>
                </a:tc>
                <a:tc>
                  <a:txBody>
                    <a:bodyPr/>
                    <a:lstStyle/>
                    <a:p>
                      <a:pPr>
                        <a:buNone/>
                      </a:pPr>
                      <a:r>
                        <a:rPr lang="en-IN">
                          <a:latin typeface="Times New Roman" panose="02020603050405020304" pitchFamily="18" charset="0"/>
                          <a:cs typeface="Times New Roman" panose="02020603050405020304" pitchFamily="18" charset="0"/>
                        </a:rPr>
                        <a:t>Year</a:t>
                      </a:r>
                    </a:p>
                  </a:txBody>
                  <a:tcPr anchor="ctr"/>
                </a:tc>
                <a:tc>
                  <a:txBody>
                    <a:bodyPr/>
                    <a:lstStyle/>
                    <a:p>
                      <a:pPr>
                        <a:buNone/>
                      </a:pPr>
                      <a:r>
                        <a:rPr lang="en-IN">
                          <a:latin typeface="Times New Roman" panose="02020603050405020304" pitchFamily="18" charset="0"/>
                          <a:cs typeface="Times New Roman" panose="02020603050405020304" pitchFamily="18" charset="0"/>
                        </a:rPr>
                        <a:t>Article Name</a:t>
                      </a:r>
                    </a:p>
                  </a:txBody>
                  <a:tcPr anchor="ctr"/>
                </a:tc>
                <a:tc>
                  <a:txBody>
                    <a:bodyPr/>
                    <a:lstStyle/>
                    <a:p>
                      <a:pPr>
                        <a:buNone/>
                      </a:pPr>
                      <a:r>
                        <a:rPr lang="en-IN">
                          <a:latin typeface="Times New Roman" panose="02020603050405020304" pitchFamily="18" charset="0"/>
                          <a:cs typeface="Times New Roman" panose="02020603050405020304" pitchFamily="18" charset="0"/>
                        </a:rPr>
                        <a:t>Reference</a:t>
                      </a:r>
                    </a:p>
                  </a:txBody>
                  <a:tcPr anchor="ctr"/>
                </a:tc>
                <a:tc>
                  <a:txBody>
                    <a:bodyPr/>
                    <a:lstStyle/>
                    <a:p>
                      <a:pPr>
                        <a:buNone/>
                      </a:pPr>
                      <a:r>
                        <a:rPr lang="en-IN" dirty="0">
                          <a:latin typeface="Times New Roman" panose="02020603050405020304" pitchFamily="18" charset="0"/>
                          <a:cs typeface="Times New Roman" panose="02020603050405020304" pitchFamily="18" charset="0"/>
                        </a:rPr>
                        <a:t>Focus</a:t>
                      </a:r>
                    </a:p>
                  </a:txBody>
                  <a:tcPr anchor="ctr"/>
                </a:tc>
                <a:tc>
                  <a:txBody>
                    <a:bodyPr/>
                    <a:lstStyle/>
                    <a:p>
                      <a:pPr>
                        <a:buNone/>
                      </a:pPr>
                      <a:r>
                        <a:rPr lang="en-IN">
                          <a:latin typeface="Times New Roman" panose="02020603050405020304" pitchFamily="18" charset="0"/>
                          <a:cs typeface="Times New Roman" panose="02020603050405020304" pitchFamily="18" charset="0"/>
                        </a:rPr>
                        <a:t>Methods</a:t>
                      </a:r>
                    </a:p>
                  </a:txBody>
                  <a:tcPr anchor="ctr"/>
                </a:tc>
                <a:tc>
                  <a:txBody>
                    <a:bodyPr/>
                    <a:lstStyle/>
                    <a:p>
                      <a:pPr>
                        <a:buNone/>
                      </a:pPr>
                      <a:r>
                        <a:rPr lang="en-IN">
                          <a:latin typeface="Times New Roman" panose="02020603050405020304" pitchFamily="18" charset="0"/>
                          <a:cs typeface="Times New Roman" panose="02020603050405020304" pitchFamily="18" charset="0"/>
                        </a:rPr>
                        <a:t>Result</a:t>
                      </a:r>
                    </a:p>
                  </a:txBody>
                  <a:tcPr anchor="ctr"/>
                </a:tc>
                <a:extLst>
                  <a:ext uri="{0D108BD9-81ED-4DB2-BD59-A6C34878D82A}">
                    <a16:rowId xmlns:a16="http://schemas.microsoft.com/office/drawing/2014/main" val="2456450382"/>
                  </a:ext>
                </a:extLst>
              </a:tr>
              <a:tr h="941036">
                <a:tc>
                  <a:txBody>
                    <a:bodyPr/>
                    <a:lstStyle/>
                    <a:p>
                      <a:pPr>
                        <a:buNone/>
                      </a:pPr>
                      <a:r>
                        <a:rPr lang="en-IN">
                          <a:latin typeface="Times New Roman" panose="02020603050405020304" pitchFamily="18" charset="0"/>
                          <a:cs typeface="Times New Roman" panose="02020603050405020304" pitchFamily="18" charset="0"/>
                        </a:rPr>
                        <a:t>01</a:t>
                      </a:r>
                    </a:p>
                  </a:txBody>
                  <a:tcPr anchor="ctr"/>
                </a:tc>
                <a:tc>
                  <a:txBody>
                    <a:bodyPr/>
                    <a:lstStyle/>
                    <a:p>
                      <a:pPr>
                        <a:buNone/>
                      </a:pPr>
                      <a:r>
                        <a:rPr lang="en-IN">
                          <a:latin typeface="Times New Roman" panose="02020603050405020304" pitchFamily="18" charset="0"/>
                          <a:cs typeface="Times New Roman" panose="02020603050405020304" pitchFamily="18" charset="0"/>
                        </a:rPr>
                        <a:t>2025</a:t>
                      </a:r>
                    </a:p>
                  </a:txBody>
                  <a:tcPr anchor="ctr"/>
                </a:tc>
                <a:tc>
                  <a:txBody>
                    <a:bodyPr/>
                    <a:lstStyle/>
                    <a:p>
                      <a:pPr>
                        <a:buNone/>
                      </a:pPr>
                      <a:r>
                        <a:rPr lang="en-US" i="1" dirty="0">
                          <a:latin typeface="Times New Roman" panose="02020603050405020304" pitchFamily="18" charset="0"/>
                          <a:cs typeface="Times New Roman" panose="02020603050405020304" pitchFamily="18" charset="0"/>
                        </a:rPr>
                        <a:t>Patient Flow Optimization in Hospitals Using Queueing Theory</a:t>
                      </a:r>
                      <a:endParaRPr lang="en-US" dirty="0">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T. Wang</a:t>
                      </a:r>
                    </a:p>
                  </a:txBody>
                  <a:tcPr anchor="ctr"/>
                </a:tc>
                <a:tc>
                  <a:txBody>
                    <a:bodyPr/>
                    <a:lstStyle/>
                    <a:p>
                      <a:pPr>
                        <a:buNone/>
                      </a:pPr>
                      <a:r>
                        <a:rPr lang="en-US">
                          <a:latin typeface="Times New Roman" panose="02020603050405020304" pitchFamily="18" charset="0"/>
                          <a:cs typeface="Times New Roman" panose="02020603050405020304" pitchFamily="18" charset="0"/>
                        </a:rPr>
                        <a:t>Improving patient flow to reduce overcrowding and delays</a:t>
                      </a:r>
                    </a:p>
                  </a:txBody>
                  <a:tcPr anchor="ctr"/>
                </a:tc>
                <a:tc>
                  <a:txBody>
                    <a:bodyPr/>
                    <a:lstStyle/>
                    <a:p>
                      <a:pPr>
                        <a:buNone/>
                      </a:pPr>
                      <a:r>
                        <a:rPr lang="en-US">
                          <a:latin typeface="Times New Roman" panose="02020603050405020304" pitchFamily="18" charset="0"/>
                          <a:cs typeface="Times New Roman" panose="02020603050405020304" pitchFamily="18" charset="0"/>
                        </a:rPr>
                        <a:t>Queueing models, simulation of OPD and emergency services</a:t>
                      </a:r>
                    </a:p>
                  </a:txBody>
                  <a:tcPr anchor="ctr"/>
                </a:tc>
                <a:tc>
                  <a:txBody>
                    <a:bodyPr/>
                    <a:lstStyle/>
                    <a:p>
                      <a:pPr>
                        <a:buNone/>
                      </a:pPr>
                      <a:r>
                        <a:rPr lang="en-US">
                          <a:latin typeface="Times New Roman" panose="02020603050405020304" pitchFamily="18" charset="0"/>
                          <a:cs typeface="Times New Roman" panose="02020603050405020304" pitchFamily="18" charset="0"/>
                        </a:rPr>
                        <a:t>Reduced patient waiting time and better utilization of hospital resources</a:t>
                      </a:r>
                    </a:p>
                  </a:txBody>
                  <a:tcPr anchor="ctr"/>
                </a:tc>
                <a:extLst>
                  <a:ext uri="{0D108BD9-81ED-4DB2-BD59-A6C34878D82A}">
                    <a16:rowId xmlns:a16="http://schemas.microsoft.com/office/drawing/2014/main" val="3304524108"/>
                  </a:ext>
                </a:extLst>
              </a:tr>
              <a:tr h="906024">
                <a:tc>
                  <a:txBody>
                    <a:bodyPr/>
                    <a:lstStyle/>
                    <a:p>
                      <a:pPr>
                        <a:buNone/>
                      </a:pPr>
                      <a:r>
                        <a:rPr lang="en-IN">
                          <a:latin typeface="Times New Roman" panose="02020603050405020304" pitchFamily="18" charset="0"/>
                          <a:cs typeface="Times New Roman" panose="02020603050405020304" pitchFamily="18" charset="0"/>
                        </a:rPr>
                        <a:t>02</a:t>
                      </a:r>
                    </a:p>
                  </a:txBody>
                  <a:tcPr anchor="ctr"/>
                </a:tc>
                <a:tc>
                  <a:txBody>
                    <a:bodyPr/>
                    <a:lstStyle/>
                    <a:p>
                      <a:pPr>
                        <a:buNone/>
                      </a:pPr>
                      <a:r>
                        <a:rPr lang="en-IN">
                          <a:latin typeface="Times New Roman" panose="02020603050405020304" pitchFamily="18" charset="0"/>
                          <a:cs typeface="Times New Roman" panose="02020603050405020304" pitchFamily="18" charset="0"/>
                        </a:rPr>
                        <a:t>2025</a:t>
                      </a:r>
                    </a:p>
                  </a:txBody>
                  <a:tcPr anchor="ctr"/>
                </a:tc>
                <a:tc>
                  <a:txBody>
                    <a:bodyPr/>
                    <a:lstStyle/>
                    <a:p>
                      <a:pPr>
                        <a:buNone/>
                      </a:pPr>
                      <a:r>
                        <a:rPr lang="en-US" i="1" dirty="0">
                          <a:latin typeface="Times New Roman" panose="02020603050405020304" pitchFamily="18" charset="0"/>
                          <a:cs typeface="Times New Roman" panose="02020603050405020304" pitchFamily="18" charset="0"/>
                        </a:rPr>
                        <a:t>Impact of Online Appointment Systems on Patient Satisfaction</a:t>
                      </a:r>
                      <a:endParaRPr lang="en-US" dirty="0">
                        <a:latin typeface="Times New Roman" panose="02020603050405020304" pitchFamily="18" charset="0"/>
                        <a:cs typeface="Times New Roman" panose="02020603050405020304" pitchFamily="18" charset="0"/>
                      </a:endParaRPr>
                    </a:p>
                  </a:txBody>
                  <a:tcPr anchor="ctr"/>
                </a:tc>
                <a:tc>
                  <a:txBody>
                    <a:bodyPr/>
                    <a:lstStyle/>
                    <a:p>
                      <a:pPr>
                        <a:buNone/>
                      </a:pPr>
                      <a:r>
                        <a:rPr lang="da-DK" dirty="0">
                          <a:latin typeface="Times New Roman" panose="02020603050405020304" pitchFamily="18" charset="0"/>
                          <a:cs typeface="Times New Roman" panose="02020603050405020304" pitchFamily="18" charset="0"/>
                        </a:rPr>
                        <a:t>P.K. Betancor et al.</a:t>
                      </a:r>
                    </a:p>
                  </a:txBody>
                  <a:tcPr anchor="ctr"/>
                </a:tc>
                <a:tc>
                  <a:txBody>
                    <a:bodyPr/>
                    <a:lstStyle/>
                    <a:p>
                      <a:pPr>
                        <a:buNone/>
                      </a:pPr>
                      <a:r>
                        <a:rPr lang="en-US">
                          <a:latin typeface="Times New Roman" panose="02020603050405020304" pitchFamily="18" charset="0"/>
                          <a:cs typeface="Times New Roman" panose="02020603050405020304" pitchFamily="18" charset="0"/>
                        </a:rPr>
                        <a:t>Evaluating effectiveness of online hospital appointment booking</a:t>
                      </a:r>
                    </a:p>
                  </a:txBody>
                  <a:tcPr anchor="ctr"/>
                </a:tc>
                <a:tc>
                  <a:txBody>
                    <a:bodyPr/>
                    <a:lstStyle/>
                    <a:p>
                      <a:pPr>
                        <a:buNone/>
                      </a:pPr>
                      <a:r>
                        <a:rPr lang="en-US" dirty="0">
                          <a:latin typeface="Times New Roman" panose="02020603050405020304" pitchFamily="18" charset="0"/>
                          <a:cs typeface="Times New Roman" panose="02020603050405020304" pitchFamily="18" charset="0"/>
                        </a:rPr>
                        <a:t>Surveys and staff–patient feedback analysis</a:t>
                      </a:r>
                    </a:p>
                  </a:txBody>
                  <a:tcPr anchor="ctr"/>
                </a:tc>
                <a:tc>
                  <a:txBody>
                    <a:bodyPr/>
                    <a:lstStyle/>
                    <a:p>
                      <a:pPr>
                        <a:buNone/>
                      </a:pPr>
                      <a:r>
                        <a:rPr lang="en-US">
                          <a:latin typeface="Times New Roman" panose="02020603050405020304" pitchFamily="18" charset="0"/>
                          <a:cs typeface="Times New Roman" panose="02020603050405020304" pitchFamily="18" charset="0"/>
                        </a:rPr>
                        <a:t>Higher patient satisfaction and fewer missed appointments</a:t>
                      </a:r>
                    </a:p>
                  </a:txBody>
                  <a:tcPr anchor="ctr"/>
                </a:tc>
                <a:extLst>
                  <a:ext uri="{0D108BD9-81ED-4DB2-BD59-A6C34878D82A}">
                    <a16:rowId xmlns:a16="http://schemas.microsoft.com/office/drawing/2014/main" val="3545339309"/>
                  </a:ext>
                </a:extLst>
              </a:tr>
              <a:tr h="855030">
                <a:tc>
                  <a:txBody>
                    <a:bodyPr/>
                    <a:lstStyle/>
                    <a:p>
                      <a:pPr>
                        <a:buNone/>
                      </a:pPr>
                      <a:r>
                        <a:rPr lang="en-IN">
                          <a:latin typeface="Times New Roman" panose="02020603050405020304" pitchFamily="18" charset="0"/>
                          <a:cs typeface="Times New Roman" panose="02020603050405020304" pitchFamily="18" charset="0"/>
                        </a:rPr>
                        <a:t>03</a:t>
                      </a:r>
                    </a:p>
                  </a:txBody>
                  <a:tcPr anchor="ctr"/>
                </a:tc>
                <a:tc>
                  <a:txBody>
                    <a:bodyPr/>
                    <a:lstStyle/>
                    <a:p>
                      <a:pPr>
                        <a:buNone/>
                      </a:pPr>
                      <a:r>
                        <a:rPr lang="en-IN">
                          <a:latin typeface="Times New Roman" panose="02020603050405020304" pitchFamily="18" charset="0"/>
                          <a:cs typeface="Times New Roman" panose="02020603050405020304" pitchFamily="18" charset="0"/>
                        </a:rPr>
                        <a:t>2025</a:t>
                      </a:r>
                    </a:p>
                  </a:txBody>
                  <a:tcPr anchor="ctr"/>
                </a:tc>
                <a:tc>
                  <a:txBody>
                    <a:bodyPr/>
                    <a:lstStyle/>
                    <a:p>
                      <a:pPr>
                        <a:buNone/>
                      </a:pPr>
                      <a:r>
                        <a:rPr lang="en-US" i="1" dirty="0">
                          <a:latin typeface="Times New Roman" panose="02020603050405020304" pitchFamily="18" charset="0"/>
                          <a:cs typeface="Times New Roman" panose="02020603050405020304" pitchFamily="18" charset="0"/>
                        </a:rPr>
                        <a:t>Privacy-Preserving Appointment Scheduling in Smart Healthcare Systems</a:t>
                      </a:r>
                      <a:endParaRPr lang="en-US" dirty="0">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S. Zhang</a:t>
                      </a:r>
                    </a:p>
                  </a:txBody>
                  <a:tcPr anchor="ctr"/>
                </a:tc>
                <a:tc>
                  <a:txBody>
                    <a:bodyPr/>
                    <a:lstStyle/>
                    <a:p>
                      <a:pPr>
                        <a:buNone/>
                      </a:pPr>
                      <a:r>
                        <a:rPr lang="en-US" dirty="0">
                          <a:latin typeface="Times New Roman" panose="02020603050405020304" pitchFamily="18" charset="0"/>
                          <a:cs typeface="Times New Roman" panose="02020603050405020304" pitchFamily="18" charset="0"/>
                        </a:rPr>
                        <a:t>Ensuring secure and privacy-safe hospital appointment booking</a:t>
                      </a:r>
                    </a:p>
                  </a:txBody>
                  <a:tcPr anchor="ctr"/>
                </a:tc>
                <a:tc>
                  <a:txBody>
                    <a:bodyPr/>
                    <a:lstStyle/>
                    <a:p>
                      <a:pPr>
                        <a:buNone/>
                      </a:pPr>
                      <a:r>
                        <a:rPr lang="en-IN" dirty="0">
                          <a:latin typeface="Times New Roman" panose="02020603050405020304" pitchFamily="18" charset="0"/>
                          <a:cs typeface="Times New Roman" panose="02020603050405020304" pitchFamily="18" charset="0"/>
                        </a:rPr>
                        <a:t>Encryption techniques, secure login</a:t>
                      </a:r>
                    </a:p>
                  </a:txBody>
                  <a:tcPr anchor="ctr"/>
                </a:tc>
                <a:tc>
                  <a:txBody>
                    <a:bodyPr/>
                    <a:lstStyle/>
                    <a:p>
                      <a:pPr>
                        <a:buNone/>
                      </a:pPr>
                      <a:r>
                        <a:rPr lang="en-US">
                          <a:latin typeface="Times New Roman" panose="02020603050405020304" pitchFamily="18" charset="0"/>
                          <a:cs typeface="Times New Roman" panose="02020603050405020304" pitchFamily="18" charset="0"/>
                        </a:rPr>
                        <a:t>Improved data security and increased patient trust</a:t>
                      </a:r>
                    </a:p>
                  </a:txBody>
                  <a:tcPr anchor="ctr"/>
                </a:tc>
                <a:extLst>
                  <a:ext uri="{0D108BD9-81ED-4DB2-BD59-A6C34878D82A}">
                    <a16:rowId xmlns:a16="http://schemas.microsoft.com/office/drawing/2014/main" val="4082080527"/>
                  </a:ext>
                </a:extLst>
              </a:tr>
              <a:tr h="906024">
                <a:tc>
                  <a:txBody>
                    <a:bodyPr/>
                    <a:lstStyle/>
                    <a:p>
                      <a:pPr>
                        <a:buNone/>
                      </a:pPr>
                      <a:r>
                        <a:rPr lang="en-IN">
                          <a:latin typeface="Times New Roman" panose="02020603050405020304" pitchFamily="18" charset="0"/>
                          <a:cs typeface="Times New Roman" panose="02020603050405020304" pitchFamily="18" charset="0"/>
                        </a:rPr>
                        <a:t>04</a:t>
                      </a:r>
                    </a:p>
                  </a:txBody>
                  <a:tcPr anchor="ctr"/>
                </a:tc>
                <a:tc>
                  <a:txBody>
                    <a:bodyPr/>
                    <a:lstStyle/>
                    <a:p>
                      <a:pPr>
                        <a:buNone/>
                      </a:pPr>
                      <a:r>
                        <a:rPr lang="en-IN">
                          <a:latin typeface="Times New Roman" panose="02020603050405020304" pitchFamily="18" charset="0"/>
                          <a:cs typeface="Times New Roman" panose="02020603050405020304" pitchFamily="18" charset="0"/>
                        </a:rPr>
                        <a:t>2024</a:t>
                      </a:r>
                    </a:p>
                  </a:txBody>
                  <a:tcPr anchor="ctr"/>
                </a:tc>
                <a:tc>
                  <a:txBody>
                    <a:bodyPr/>
                    <a:lstStyle/>
                    <a:p>
                      <a:pPr>
                        <a:buNone/>
                      </a:pPr>
                      <a:r>
                        <a:rPr lang="en-US" i="1" dirty="0">
                          <a:latin typeface="Times New Roman" panose="02020603050405020304" pitchFamily="18" charset="0"/>
                          <a:cs typeface="Times New Roman" panose="02020603050405020304" pitchFamily="18" charset="0"/>
                        </a:rPr>
                        <a:t>Design and Development of a Smart Hospital Management System Portal</a:t>
                      </a:r>
                      <a:endParaRPr lang="en-US" dirty="0">
                        <a:latin typeface="Times New Roman" panose="02020603050405020304" pitchFamily="18" charset="0"/>
                        <a:cs typeface="Times New Roman" panose="02020603050405020304" pitchFamily="18" charset="0"/>
                      </a:endParaRPr>
                    </a:p>
                  </a:txBody>
                  <a:tcPr anchor="ctr"/>
                </a:tc>
                <a:tc>
                  <a:txBody>
                    <a:bodyPr/>
                    <a:lstStyle/>
                    <a:p>
                      <a:pPr>
                        <a:buNone/>
                      </a:pPr>
                      <a:r>
                        <a:rPr lang="en-IN" dirty="0">
                          <a:latin typeface="Times New Roman" panose="02020603050405020304" pitchFamily="18" charset="0"/>
                          <a:cs typeface="Times New Roman" panose="02020603050405020304" pitchFamily="18" charset="0"/>
                        </a:rPr>
                        <a:t>G. Gaikwad</a:t>
                      </a:r>
                    </a:p>
                  </a:txBody>
                  <a:tcPr anchor="ctr"/>
                </a:tc>
                <a:tc>
                  <a:txBody>
                    <a:bodyPr/>
                    <a:lstStyle/>
                    <a:p>
                      <a:pPr>
                        <a:buNone/>
                      </a:pPr>
                      <a:r>
                        <a:rPr lang="en-US" dirty="0">
                          <a:latin typeface="Times New Roman" panose="02020603050405020304" pitchFamily="18" charset="0"/>
                          <a:cs typeface="Times New Roman" panose="02020603050405020304" pitchFamily="18" charset="0"/>
                        </a:rPr>
                        <a:t>Developing a web-based smart HMS portal</a:t>
                      </a:r>
                    </a:p>
                  </a:txBody>
                  <a:tcPr anchor="ctr"/>
                </a:tc>
                <a:tc>
                  <a:txBody>
                    <a:bodyPr/>
                    <a:lstStyle/>
                    <a:p>
                      <a:pPr>
                        <a:buNone/>
                      </a:pPr>
                      <a:r>
                        <a:rPr lang="en-US">
                          <a:latin typeface="Times New Roman" panose="02020603050405020304" pitchFamily="18" charset="0"/>
                          <a:cs typeface="Times New Roman" panose="02020603050405020304" pitchFamily="18" charset="0"/>
                        </a:rPr>
                        <a:t>PHP, MySQL database, role-based web system implementation</a:t>
                      </a:r>
                    </a:p>
                  </a:txBody>
                  <a:tcPr anchor="ctr"/>
                </a:tc>
                <a:tc>
                  <a:txBody>
                    <a:bodyPr/>
                    <a:lstStyle/>
                    <a:p>
                      <a:pPr>
                        <a:buNone/>
                      </a:pPr>
                      <a:r>
                        <a:rPr lang="en-US">
                          <a:latin typeface="Times New Roman" panose="02020603050405020304" pitchFamily="18" charset="0"/>
                          <a:cs typeface="Times New Roman" panose="02020603050405020304" pitchFamily="18" charset="0"/>
                        </a:rPr>
                        <a:t>Faster processing, efficient data handling, and reduced paperwork</a:t>
                      </a:r>
                    </a:p>
                  </a:txBody>
                  <a:tcPr anchor="ctr"/>
                </a:tc>
                <a:extLst>
                  <a:ext uri="{0D108BD9-81ED-4DB2-BD59-A6C34878D82A}">
                    <a16:rowId xmlns:a16="http://schemas.microsoft.com/office/drawing/2014/main" val="2085229491"/>
                  </a:ext>
                </a:extLst>
              </a:tr>
              <a:tr h="1110609">
                <a:tc>
                  <a:txBody>
                    <a:bodyPr/>
                    <a:lstStyle/>
                    <a:p>
                      <a:pPr>
                        <a:buNone/>
                      </a:pPr>
                      <a:r>
                        <a:rPr lang="en-IN">
                          <a:latin typeface="Times New Roman" panose="02020603050405020304" pitchFamily="18" charset="0"/>
                          <a:cs typeface="Times New Roman" panose="02020603050405020304" pitchFamily="18" charset="0"/>
                        </a:rPr>
                        <a:t>05</a:t>
                      </a:r>
                    </a:p>
                  </a:txBody>
                  <a:tcPr anchor="ctr"/>
                </a:tc>
                <a:tc>
                  <a:txBody>
                    <a:bodyPr/>
                    <a:lstStyle/>
                    <a:p>
                      <a:pPr>
                        <a:buNone/>
                      </a:pPr>
                      <a:r>
                        <a:rPr lang="en-IN">
                          <a:latin typeface="Times New Roman" panose="02020603050405020304" pitchFamily="18" charset="0"/>
                          <a:cs typeface="Times New Roman" panose="02020603050405020304" pitchFamily="18" charset="0"/>
                        </a:rPr>
                        <a:t>2025</a:t>
                      </a:r>
                    </a:p>
                  </a:txBody>
                  <a:tcPr anchor="ctr"/>
                </a:tc>
                <a:tc>
                  <a:txBody>
                    <a:bodyPr/>
                    <a:lstStyle/>
                    <a:p>
                      <a:pPr>
                        <a:buNone/>
                      </a:pPr>
                      <a:r>
                        <a:rPr lang="en-US" i="1" dirty="0">
                          <a:latin typeface="Times New Roman" panose="02020603050405020304" pitchFamily="18" charset="0"/>
                          <a:cs typeface="Times New Roman" panose="02020603050405020304" pitchFamily="18" charset="0"/>
                        </a:rPr>
                        <a:t>Global Market Trends in Patient Flow and Hospital Digital Solutions</a:t>
                      </a:r>
                      <a:endParaRPr lang="en-US" dirty="0">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RootsAnalysis</a:t>
                      </a:r>
                    </a:p>
                  </a:txBody>
                  <a:tcPr anchor="ctr"/>
                </a:tc>
                <a:tc>
                  <a:txBody>
                    <a:bodyPr/>
                    <a:lstStyle/>
                    <a:p>
                      <a:pPr>
                        <a:buNone/>
                      </a:pPr>
                      <a:r>
                        <a:rPr lang="en-US" dirty="0">
                          <a:latin typeface="Times New Roman" panose="02020603050405020304" pitchFamily="18" charset="0"/>
                          <a:cs typeface="Times New Roman" panose="02020603050405020304" pitchFamily="18" charset="0"/>
                        </a:rPr>
                        <a:t>Analyzing adoption of digital patient-flow and HMS technologies</a:t>
                      </a:r>
                    </a:p>
                  </a:txBody>
                  <a:tcPr anchor="ctr"/>
                </a:tc>
                <a:tc>
                  <a:txBody>
                    <a:bodyPr/>
                    <a:lstStyle/>
                    <a:p>
                      <a:pPr>
                        <a:buNone/>
                      </a:pPr>
                      <a:r>
                        <a:rPr lang="en-US" dirty="0">
                          <a:latin typeface="Times New Roman" panose="02020603050405020304" pitchFamily="18" charset="0"/>
                          <a:cs typeface="Times New Roman" panose="02020603050405020304" pitchFamily="18" charset="0"/>
                        </a:rPr>
                        <a:t>Market statistics, industry reports, and trend analysis</a:t>
                      </a:r>
                    </a:p>
                  </a:txBody>
                  <a:tcPr anchor="ctr"/>
                </a:tc>
                <a:tc>
                  <a:txBody>
                    <a:bodyPr/>
                    <a:lstStyle/>
                    <a:p>
                      <a:pPr>
                        <a:buNone/>
                      </a:pPr>
                      <a:r>
                        <a:rPr lang="en-US" dirty="0">
                          <a:latin typeface="Times New Roman" panose="02020603050405020304" pitchFamily="18" charset="0"/>
                          <a:cs typeface="Times New Roman" panose="02020603050405020304" pitchFamily="18" charset="0"/>
                        </a:rPr>
                        <a:t>Growth in digital healthcare adoption and smart hospital investments</a:t>
                      </a:r>
                    </a:p>
                  </a:txBody>
                  <a:tcPr anchor="ctr"/>
                </a:tc>
                <a:extLst>
                  <a:ext uri="{0D108BD9-81ED-4DB2-BD59-A6C34878D82A}">
                    <a16:rowId xmlns:a16="http://schemas.microsoft.com/office/drawing/2014/main" val="1763361470"/>
                  </a:ext>
                </a:extLst>
              </a:tr>
            </a:tbl>
          </a:graphicData>
        </a:graphic>
      </p:graphicFrame>
    </p:spTree>
    <p:extLst>
      <p:ext uri="{BB962C8B-B14F-4D97-AF65-F5344CB8AC3E}">
        <p14:creationId xmlns:p14="http://schemas.microsoft.com/office/powerpoint/2010/main" val="2880813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870D04-8138-D97D-9C35-D69FFA6DD6D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pic>
        <p:nvPicPr>
          <p:cNvPr id="3" name="Google Shape;153;p18">
            <a:extLst>
              <a:ext uri="{FF2B5EF4-FFF2-40B4-BE49-F238E27FC236}">
                <a16:creationId xmlns:a16="http://schemas.microsoft.com/office/drawing/2014/main" id="{6D95832C-89AE-A567-5A1A-A5114C11904F}"/>
              </a:ext>
            </a:extLst>
          </p:cNvPr>
          <p:cNvPicPr preferRelativeResize="0"/>
          <p:nvPr/>
        </p:nvPicPr>
        <p:blipFill rotWithShape="1">
          <a:blip r:embed="rId2">
            <a:alphaModFix/>
          </a:blip>
          <a:srcRect/>
          <a:stretch/>
        </p:blipFill>
        <p:spPr>
          <a:xfrm>
            <a:off x="357352" y="191626"/>
            <a:ext cx="1135117" cy="1342884"/>
          </a:xfrm>
          <a:prstGeom prst="rect">
            <a:avLst/>
          </a:prstGeom>
          <a:noFill/>
          <a:ln>
            <a:noFill/>
          </a:ln>
        </p:spPr>
      </p:pic>
      <p:pic>
        <p:nvPicPr>
          <p:cNvPr id="4" name="Google Shape;154;p18">
            <a:extLst>
              <a:ext uri="{FF2B5EF4-FFF2-40B4-BE49-F238E27FC236}">
                <a16:creationId xmlns:a16="http://schemas.microsoft.com/office/drawing/2014/main" id="{C48AAFC1-F0A4-E86E-CB46-A415724634E8}"/>
              </a:ext>
            </a:extLst>
          </p:cNvPr>
          <p:cNvPicPr preferRelativeResize="0"/>
          <p:nvPr/>
        </p:nvPicPr>
        <p:blipFill rotWithShape="1">
          <a:blip r:embed="rId3">
            <a:alphaModFix/>
          </a:blip>
          <a:srcRect/>
          <a:stretch/>
        </p:blipFill>
        <p:spPr>
          <a:xfrm>
            <a:off x="10340562" y="191626"/>
            <a:ext cx="1520114" cy="1342884"/>
          </a:xfrm>
          <a:prstGeom prst="rect">
            <a:avLst/>
          </a:prstGeom>
          <a:noFill/>
          <a:ln>
            <a:noFill/>
          </a:ln>
        </p:spPr>
      </p:pic>
      <p:pic>
        <p:nvPicPr>
          <p:cNvPr id="8" name="Picture 7">
            <a:extLst>
              <a:ext uri="{FF2B5EF4-FFF2-40B4-BE49-F238E27FC236}">
                <a16:creationId xmlns:a16="http://schemas.microsoft.com/office/drawing/2014/main" id="{B8C91A62-92D3-01C8-8F91-AF8306A7F8BA}"/>
              </a:ext>
            </a:extLst>
          </p:cNvPr>
          <p:cNvPicPr>
            <a:picLocks noChangeAspect="1"/>
          </p:cNvPicPr>
          <p:nvPr/>
        </p:nvPicPr>
        <p:blipFill>
          <a:blip r:embed="rId4"/>
          <a:stretch>
            <a:fillRect/>
          </a:stretch>
        </p:blipFill>
        <p:spPr>
          <a:xfrm>
            <a:off x="1209368" y="1534510"/>
            <a:ext cx="9891251" cy="4821841"/>
          </a:xfrm>
          <a:prstGeom prst="rect">
            <a:avLst/>
          </a:prstGeom>
        </p:spPr>
      </p:pic>
    </p:spTree>
    <p:extLst>
      <p:ext uri="{BB962C8B-B14F-4D97-AF65-F5344CB8AC3E}">
        <p14:creationId xmlns:p14="http://schemas.microsoft.com/office/powerpoint/2010/main" val="4175311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8"/>
          <p:cNvSpPr txBox="1">
            <a:spLocks noGrp="1"/>
          </p:cNvSpPr>
          <p:nvPr>
            <p:ph type="title"/>
          </p:nvPr>
        </p:nvSpPr>
        <p:spPr>
          <a:xfrm>
            <a:off x="1281356" y="863068"/>
            <a:ext cx="8944349" cy="1143000"/>
          </a:xfrm>
          <a:prstGeom prst="rect">
            <a:avLst/>
          </a:prstGeom>
          <a:noFill/>
          <a:ln>
            <a:noFill/>
          </a:ln>
        </p:spPr>
        <p:txBody>
          <a:bodyPr spcFirstLastPara="1" wrap="square" lIns="91425" tIns="45700" rIns="91425" bIns="45700" anchor="ctr" anchorCtr="0">
            <a:noAutofit/>
          </a:bodyPr>
          <a:lstStyle/>
          <a:p>
            <a:pPr>
              <a:buSzPts val="3600"/>
            </a:pPr>
            <a:r>
              <a:rPr lang="en-US" sz="3200" b="1" dirty="0">
                <a:solidFill>
                  <a:srgbClr val="FF0000"/>
                </a:solidFill>
                <a:latin typeface="Times New Roman" panose="02020603050405020304" pitchFamily="18" charset="0"/>
                <a:cs typeface="Times New Roman" panose="02020603050405020304" pitchFamily="18" charset="0"/>
              </a:rPr>
              <a:t>Module 1 –Patient Appointment Management</a:t>
            </a:r>
            <a:br>
              <a:rPr lang="en-US" sz="3200" b="1" dirty="0">
                <a:latin typeface="Times New Roman" panose="02020603050405020304" pitchFamily="18" charset="0"/>
                <a:cs typeface="Times New Roman" panose="02020603050405020304" pitchFamily="18" charset="0"/>
              </a:rPr>
            </a:br>
            <a:endParaRPr sz="3200" b="1" dirty="0">
              <a:latin typeface="Times New Roman" panose="02020603050405020304" pitchFamily="18" charset="0"/>
              <a:ea typeface="Times New Roman"/>
              <a:cs typeface="Times New Roman" panose="02020603050405020304" pitchFamily="18" charset="0"/>
              <a:sym typeface="Times New Roman"/>
            </a:endParaRPr>
          </a:p>
        </p:txBody>
      </p:sp>
      <p:sp>
        <p:nvSpPr>
          <p:cNvPr id="149" name="Google Shape;149;p18"/>
          <p:cNvSpPr txBox="1">
            <a:spLocks noGrp="1"/>
          </p:cNvSpPr>
          <p:nvPr>
            <p:ph type="body" idx="1"/>
          </p:nvPr>
        </p:nvSpPr>
        <p:spPr>
          <a:xfrm>
            <a:off x="924910" y="1925188"/>
            <a:ext cx="10123835" cy="4933099"/>
          </a:xfrm>
          <a:prstGeom prst="rect">
            <a:avLst/>
          </a:prstGeom>
          <a:noFill/>
          <a:ln>
            <a:noFill/>
          </a:ln>
        </p:spPr>
        <p:txBody>
          <a:bodyPr spcFirstLastPara="1" wrap="square" lIns="91425" tIns="45700" rIns="91425" bIns="45700" anchor="t" anchorCtr="0">
            <a:normAutofit/>
          </a:bodyPr>
          <a:lstStyle/>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Enable patients to book, reschedule, and cancel appointments through a centralized system, reducing waiting times and improving access to healthcare services.</a:t>
            </a:r>
          </a:p>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Maintain accurate patient information and appointment records to ensure efficient communication and seamless appointment management.</a:t>
            </a:r>
          </a:p>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Allow patients to view available doctors, consultation timings, and appointment status in real time for better scheduling convenience.</a:t>
            </a:r>
          </a:p>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Generate appointment confirmations and reminders to minimize missed appointments and improve patient engagement.</a:t>
            </a:r>
          </a:p>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Provide quick access to appointment history and patient records, supporting efficient healthcare service delivery.</a:t>
            </a:r>
            <a:endParaRPr lang="en-US" sz="1800" dirty="0">
              <a:latin typeface="Times New Roman" panose="02020603050405020304" pitchFamily="18" charset="0"/>
              <a:cs typeface="Times New Roman" panose="02020603050405020304" pitchFamily="18" charset="0"/>
            </a:endParaRPr>
          </a:p>
        </p:txBody>
      </p:sp>
      <p:sp>
        <p:nvSpPr>
          <p:cNvPr id="152" name="Google Shape;152;p1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pic>
        <p:nvPicPr>
          <p:cNvPr id="153" name="Google Shape;153;p18"/>
          <p:cNvPicPr preferRelativeResize="0"/>
          <p:nvPr/>
        </p:nvPicPr>
        <p:blipFill rotWithShape="1">
          <a:blip r:embed="rId3">
            <a:alphaModFix/>
          </a:blip>
          <a:srcRect/>
          <a:stretch/>
        </p:blipFill>
        <p:spPr>
          <a:xfrm>
            <a:off x="357352" y="191626"/>
            <a:ext cx="1135117" cy="1342884"/>
          </a:xfrm>
          <a:prstGeom prst="rect">
            <a:avLst/>
          </a:prstGeom>
          <a:noFill/>
          <a:ln>
            <a:noFill/>
          </a:ln>
        </p:spPr>
      </p:pic>
      <p:pic>
        <p:nvPicPr>
          <p:cNvPr id="154" name="Google Shape;154;p18"/>
          <p:cNvPicPr preferRelativeResize="0"/>
          <p:nvPr/>
        </p:nvPicPr>
        <p:blipFill rotWithShape="1">
          <a:blip r:embed="rId4">
            <a:alphaModFix/>
          </a:blip>
          <a:srcRect/>
          <a:stretch/>
        </p:blipFill>
        <p:spPr>
          <a:xfrm>
            <a:off x="10514231" y="191626"/>
            <a:ext cx="1520114" cy="134288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04346-897B-D828-89A7-8A51C7DA3B6A}"/>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5E07EA94-8692-2D16-D58B-BDE58F14CF3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F209B49-097C-89B1-017B-E6C3B7F70D6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pic>
        <p:nvPicPr>
          <p:cNvPr id="6" name="Picture 5">
            <a:extLst>
              <a:ext uri="{FF2B5EF4-FFF2-40B4-BE49-F238E27FC236}">
                <a16:creationId xmlns:a16="http://schemas.microsoft.com/office/drawing/2014/main" id="{9137B401-084D-F9DF-0FE6-E72FD99E2502}"/>
              </a:ext>
            </a:extLst>
          </p:cNvPr>
          <p:cNvPicPr>
            <a:picLocks noChangeAspect="1"/>
          </p:cNvPicPr>
          <p:nvPr/>
        </p:nvPicPr>
        <p:blipFill>
          <a:blip r:embed="rId2"/>
          <a:stretch>
            <a:fillRect/>
          </a:stretch>
        </p:blipFill>
        <p:spPr>
          <a:xfrm>
            <a:off x="275303" y="845086"/>
            <a:ext cx="11572568" cy="5281078"/>
          </a:xfrm>
          <a:prstGeom prst="rect">
            <a:avLst/>
          </a:prstGeom>
        </p:spPr>
      </p:pic>
    </p:spTree>
    <p:extLst>
      <p:ext uri="{BB962C8B-B14F-4D97-AF65-F5344CB8AC3E}">
        <p14:creationId xmlns:p14="http://schemas.microsoft.com/office/powerpoint/2010/main" val="272568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E20339-5330-3FF6-6F3F-81F06559564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pic>
        <p:nvPicPr>
          <p:cNvPr id="7" name="Google Shape;153;p18">
            <a:extLst>
              <a:ext uri="{FF2B5EF4-FFF2-40B4-BE49-F238E27FC236}">
                <a16:creationId xmlns:a16="http://schemas.microsoft.com/office/drawing/2014/main" id="{AB64982E-10E5-AA37-8E6B-3C40DB814326}"/>
              </a:ext>
            </a:extLst>
          </p:cNvPr>
          <p:cNvPicPr preferRelativeResize="0"/>
          <p:nvPr/>
        </p:nvPicPr>
        <p:blipFill rotWithShape="1">
          <a:blip r:embed="rId2">
            <a:alphaModFix/>
          </a:blip>
          <a:srcRect/>
          <a:stretch/>
        </p:blipFill>
        <p:spPr>
          <a:xfrm>
            <a:off x="357352" y="191626"/>
            <a:ext cx="1135117" cy="1342884"/>
          </a:xfrm>
          <a:prstGeom prst="rect">
            <a:avLst/>
          </a:prstGeom>
          <a:noFill/>
          <a:ln>
            <a:noFill/>
          </a:ln>
        </p:spPr>
      </p:pic>
      <p:pic>
        <p:nvPicPr>
          <p:cNvPr id="8" name="Google Shape;154;p18">
            <a:extLst>
              <a:ext uri="{FF2B5EF4-FFF2-40B4-BE49-F238E27FC236}">
                <a16:creationId xmlns:a16="http://schemas.microsoft.com/office/drawing/2014/main" id="{BE2EF936-3167-C78B-F69E-1E8A9500D4BA}"/>
              </a:ext>
            </a:extLst>
          </p:cNvPr>
          <p:cNvPicPr preferRelativeResize="0"/>
          <p:nvPr/>
        </p:nvPicPr>
        <p:blipFill rotWithShape="1">
          <a:blip r:embed="rId3">
            <a:alphaModFix/>
          </a:blip>
          <a:srcRect/>
          <a:stretch/>
        </p:blipFill>
        <p:spPr>
          <a:xfrm>
            <a:off x="10476270" y="191626"/>
            <a:ext cx="1520114" cy="1342884"/>
          </a:xfrm>
          <a:prstGeom prst="rect">
            <a:avLst/>
          </a:prstGeom>
          <a:noFill/>
          <a:ln>
            <a:noFill/>
          </a:ln>
        </p:spPr>
      </p:pic>
      <p:sp>
        <p:nvSpPr>
          <p:cNvPr id="9" name="TextBox 8">
            <a:extLst>
              <a:ext uri="{FF2B5EF4-FFF2-40B4-BE49-F238E27FC236}">
                <a16:creationId xmlns:a16="http://schemas.microsoft.com/office/drawing/2014/main" id="{704300CB-E7C9-73AC-83E5-AE866023F9AC}"/>
              </a:ext>
            </a:extLst>
          </p:cNvPr>
          <p:cNvSpPr txBox="1"/>
          <p:nvPr/>
        </p:nvSpPr>
        <p:spPr>
          <a:xfrm>
            <a:off x="2325329" y="750242"/>
            <a:ext cx="7541341" cy="584775"/>
          </a:xfrm>
          <a:prstGeom prst="rect">
            <a:avLst/>
          </a:prstGeom>
          <a:noFill/>
        </p:spPr>
        <p:txBody>
          <a:bodyPr wrap="square" rtlCol="0">
            <a:spAutoFit/>
          </a:bodyPr>
          <a:lstStyle/>
          <a:p>
            <a:r>
              <a:rPr lang="en-GB" sz="3200" b="1" dirty="0">
                <a:solidFill>
                  <a:srgbClr val="FF0000"/>
                </a:solidFill>
                <a:latin typeface="Times New Roman" panose="02020603050405020304" pitchFamily="18" charset="0"/>
                <a:cs typeface="Times New Roman" panose="02020603050405020304" pitchFamily="18" charset="0"/>
              </a:rPr>
              <a:t>Module 2 – Doctor &amp; Staff Management</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3370DE6-6A3D-F4A3-AF4E-8D38924C1B5F}"/>
              </a:ext>
            </a:extLst>
          </p:cNvPr>
          <p:cNvSpPr txBox="1"/>
          <p:nvPr/>
        </p:nvSpPr>
        <p:spPr>
          <a:xfrm>
            <a:off x="1288026" y="2182761"/>
            <a:ext cx="9389806" cy="3366563"/>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Manage doctor and staff profiles, including personal details, specialization, contact information, and professional records.</a:t>
            </a:r>
          </a:p>
          <a:p>
            <a:pPr marL="285750" indent="-285750">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Create and maintain work schedules, duty rosters, and shift assignments to ensure proper workforce allocation.</a:t>
            </a:r>
          </a:p>
          <a:p>
            <a:pPr marL="285750" indent="-285750">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Track staff attendance, availability, and leave requests to support effective hospital operations.</a:t>
            </a:r>
          </a:p>
          <a:p>
            <a:pPr marL="285750" indent="-285750">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Prevent scheduling conflicts by monitoring doctor consultation hours and staff duty timings.</a:t>
            </a:r>
          </a:p>
          <a:p>
            <a:pPr marL="285750" indent="-285750">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Enable administrators to efficiently manage workforce resources and maintain adequate staffing levels.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0748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E85DCE5-2EA2-2484-86B5-258A1118FD1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4" name="Picture 3">
            <a:extLst>
              <a:ext uri="{FF2B5EF4-FFF2-40B4-BE49-F238E27FC236}">
                <a16:creationId xmlns:a16="http://schemas.microsoft.com/office/drawing/2014/main" id="{39227593-2BAF-AF94-C853-9BB213089CC4}"/>
              </a:ext>
            </a:extLst>
          </p:cNvPr>
          <p:cNvPicPr>
            <a:picLocks noChangeAspect="1"/>
          </p:cNvPicPr>
          <p:nvPr/>
        </p:nvPicPr>
        <p:blipFill>
          <a:blip r:embed="rId2"/>
          <a:stretch>
            <a:fillRect/>
          </a:stretch>
        </p:blipFill>
        <p:spPr>
          <a:xfrm>
            <a:off x="403122" y="864521"/>
            <a:ext cx="11103348" cy="5128958"/>
          </a:xfrm>
          <a:prstGeom prst="rect">
            <a:avLst/>
          </a:prstGeom>
        </p:spPr>
      </p:pic>
    </p:spTree>
    <p:extLst>
      <p:ext uri="{BB962C8B-B14F-4D97-AF65-F5344CB8AC3E}">
        <p14:creationId xmlns:p14="http://schemas.microsoft.com/office/powerpoint/2010/main" val="7401526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a16="http://schemas.microsoft.com/office/drawing/2014/main" id="{EDD70D27-C587-8507-37A4-25BA21E0869C}"/>
            </a:ext>
          </a:extLst>
        </p:cNvPr>
        <p:cNvGrpSpPr/>
        <p:nvPr/>
      </p:nvGrpSpPr>
      <p:grpSpPr>
        <a:xfrm>
          <a:off x="0" y="0"/>
          <a:ext cx="0" cy="0"/>
          <a:chOff x="0" y="0"/>
          <a:chExt cx="0" cy="0"/>
        </a:xfrm>
      </p:grpSpPr>
      <p:sp>
        <p:nvSpPr>
          <p:cNvPr id="148" name="Google Shape;148;p18">
            <a:extLst>
              <a:ext uri="{FF2B5EF4-FFF2-40B4-BE49-F238E27FC236}">
                <a16:creationId xmlns:a16="http://schemas.microsoft.com/office/drawing/2014/main" id="{3D10C07A-FC2D-C972-B8D4-475D6B0011BC}"/>
              </a:ext>
            </a:extLst>
          </p:cNvPr>
          <p:cNvSpPr txBox="1">
            <a:spLocks noGrp="1"/>
          </p:cNvSpPr>
          <p:nvPr>
            <p:ph type="title"/>
          </p:nvPr>
        </p:nvSpPr>
        <p:spPr>
          <a:xfrm>
            <a:off x="1791866" y="391510"/>
            <a:ext cx="8422967" cy="1143000"/>
          </a:xfrm>
          <a:prstGeom prst="rect">
            <a:avLst/>
          </a:prstGeom>
          <a:noFill/>
          <a:ln>
            <a:noFill/>
          </a:ln>
        </p:spPr>
        <p:txBody>
          <a:bodyPr spcFirstLastPara="1" wrap="square" lIns="91425" tIns="45700" rIns="91425" bIns="45700" anchor="ctr" anchorCtr="0">
            <a:normAutofit/>
          </a:bodyPr>
          <a:lstStyle/>
          <a:p>
            <a:r>
              <a:rPr lang="en-IN" sz="3200" b="1" dirty="0">
                <a:solidFill>
                  <a:srgbClr val="FF0000"/>
                </a:solidFill>
                <a:latin typeface="Times New Roman" panose="02020603050405020304" pitchFamily="18" charset="0"/>
                <a:cs typeface="Times New Roman" panose="02020603050405020304" pitchFamily="18" charset="0"/>
              </a:rPr>
              <a:t>Module 3 — Hospital Resource Management</a:t>
            </a:r>
          </a:p>
        </p:txBody>
      </p:sp>
      <p:sp>
        <p:nvSpPr>
          <p:cNvPr id="149" name="Google Shape;149;p18">
            <a:extLst>
              <a:ext uri="{FF2B5EF4-FFF2-40B4-BE49-F238E27FC236}">
                <a16:creationId xmlns:a16="http://schemas.microsoft.com/office/drawing/2014/main" id="{74F9C78F-F24C-3661-9DE6-6770DA28838A}"/>
              </a:ext>
            </a:extLst>
          </p:cNvPr>
          <p:cNvSpPr txBox="1">
            <a:spLocks noGrp="1"/>
          </p:cNvSpPr>
          <p:nvPr>
            <p:ph type="body" idx="1"/>
          </p:nvPr>
        </p:nvSpPr>
        <p:spPr>
          <a:xfrm>
            <a:off x="609600" y="2342810"/>
            <a:ext cx="10972800" cy="5412658"/>
          </a:xfrm>
          <a:prstGeom prst="rect">
            <a:avLst/>
          </a:prstGeom>
          <a:noFill/>
          <a:ln>
            <a:noFill/>
          </a:ln>
        </p:spPr>
        <p:txBody>
          <a:bodyPr spcFirstLastPara="1" wrap="square" lIns="91425" tIns="45700" rIns="91425" bIns="45700" anchor="t" anchorCtr="0">
            <a:noAutofit/>
          </a:bodyPr>
          <a:lstStyle/>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Monitor and manage the availability of hospital resources such as beds, rooms, medical equipment, and other facilities.</a:t>
            </a:r>
          </a:p>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Allocate resources efficiently based on patient requirements, availability, and priority levels.</a:t>
            </a:r>
          </a:p>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Track resource utilization and occupancy status in real time to improve operational efficiency.</a:t>
            </a:r>
          </a:p>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Schedule and monitor maintenance activities for medical equipment to ensure reliability and continuous availability.</a:t>
            </a:r>
          </a:p>
          <a:p>
            <a:pPr>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Generate resource usage reports that help optimize hospital capacity planning and resource allocation.</a:t>
            </a:r>
            <a:endParaRPr sz="1800" dirty="0">
              <a:latin typeface="Times New Roman" panose="02020603050405020304" pitchFamily="18" charset="0"/>
              <a:ea typeface="Times New Roman"/>
              <a:cs typeface="Times New Roman" panose="02020603050405020304" pitchFamily="18" charset="0"/>
              <a:sym typeface="Times New Roman"/>
            </a:endParaRPr>
          </a:p>
        </p:txBody>
      </p:sp>
      <p:sp>
        <p:nvSpPr>
          <p:cNvPr id="152" name="Google Shape;152;p18">
            <a:extLst>
              <a:ext uri="{FF2B5EF4-FFF2-40B4-BE49-F238E27FC236}">
                <a16:creationId xmlns:a16="http://schemas.microsoft.com/office/drawing/2014/main" id="{3E853762-DD29-6DAB-3F7E-9CA4BA455DB9}"/>
              </a:ext>
            </a:extLst>
          </p:cNvPr>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pic>
        <p:nvPicPr>
          <p:cNvPr id="153" name="Google Shape;153;p18">
            <a:extLst>
              <a:ext uri="{FF2B5EF4-FFF2-40B4-BE49-F238E27FC236}">
                <a16:creationId xmlns:a16="http://schemas.microsoft.com/office/drawing/2014/main" id="{E76A05CF-EC48-0928-5D6B-05B9B37DC4F9}"/>
              </a:ext>
            </a:extLst>
          </p:cNvPr>
          <p:cNvPicPr preferRelativeResize="0"/>
          <p:nvPr/>
        </p:nvPicPr>
        <p:blipFill rotWithShape="1">
          <a:blip r:embed="rId3">
            <a:alphaModFix/>
          </a:blip>
          <a:srcRect/>
          <a:stretch/>
        </p:blipFill>
        <p:spPr>
          <a:xfrm>
            <a:off x="357352" y="191626"/>
            <a:ext cx="1135117" cy="1342884"/>
          </a:xfrm>
          <a:prstGeom prst="rect">
            <a:avLst/>
          </a:prstGeom>
          <a:noFill/>
          <a:ln>
            <a:noFill/>
          </a:ln>
        </p:spPr>
      </p:pic>
      <p:pic>
        <p:nvPicPr>
          <p:cNvPr id="154" name="Google Shape;154;p18">
            <a:extLst>
              <a:ext uri="{FF2B5EF4-FFF2-40B4-BE49-F238E27FC236}">
                <a16:creationId xmlns:a16="http://schemas.microsoft.com/office/drawing/2014/main" id="{91F4B989-F46F-73A2-D544-04256C896655}"/>
              </a:ext>
            </a:extLst>
          </p:cNvPr>
          <p:cNvPicPr preferRelativeResize="0"/>
          <p:nvPr/>
        </p:nvPicPr>
        <p:blipFill rotWithShape="1">
          <a:blip r:embed="rId4">
            <a:alphaModFix/>
          </a:blip>
          <a:srcRect/>
          <a:stretch/>
        </p:blipFill>
        <p:spPr>
          <a:xfrm>
            <a:off x="10514231" y="191626"/>
            <a:ext cx="1520114" cy="1342884"/>
          </a:xfrm>
          <a:prstGeom prst="rect">
            <a:avLst/>
          </a:prstGeom>
          <a:noFill/>
          <a:ln>
            <a:noFill/>
          </a:ln>
        </p:spPr>
      </p:pic>
    </p:spTree>
    <p:extLst>
      <p:ext uri="{BB962C8B-B14F-4D97-AF65-F5344CB8AC3E}">
        <p14:creationId xmlns:p14="http://schemas.microsoft.com/office/powerpoint/2010/main" val="2363641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9F8CD-D938-DD18-275D-81DE96C4BF67}"/>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D00793F6-6349-F686-535D-D358118AC35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3C88D42-A077-C893-3022-9BF463097BB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pic>
        <p:nvPicPr>
          <p:cNvPr id="6" name="Picture 5">
            <a:extLst>
              <a:ext uri="{FF2B5EF4-FFF2-40B4-BE49-F238E27FC236}">
                <a16:creationId xmlns:a16="http://schemas.microsoft.com/office/drawing/2014/main" id="{20E60CA1-3B23-A150-3775-3CE94E825E71}"/>
              </a:ext>
            </a:extLst>
          </p:cNvPr>
          <p:cNvPicPr>
            <a:picLocks noChangeAspect="1"/>
          </p:cNvPicPr>
          <p:nvPr/>
        </p:nvPicPr>
        <p:blipFill>
          <a:blip r:embed="rId2"/>
          <a:stretch>
            <a:fillRect/>
          </a:stretch>
        </p:blipFill>
        <p:spPr>
          <a:xfrm>
            <a:off x="255639" y="846138"/>
            <a:ext cx="11472592" cy="5397132"/>
          </a:xfrm>
          <a:prstGeom prst="rect">
            <a:avLst/>
          </a:prstGeom>
        </p:spPr>
      </p:pic>
    </p:spTree>
    <p:extLst>
      <p:ext uri="{BB962C8B-B14F-4D97-AF65-F5344CB8AC3E}">
        <p14:creationId xmlns:p14="http://schemas.microsoft.com/office/powerpoint/2010/main" val="38996530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4DC689-5DE0-936C-F6F9-B7D266950CE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pic>
        <p:nvPicPr>
          <p:cNvPr id="5" name="Google Shape;153;p18">
            <a:extLst>
              <a:ext uri="{FF2B5EF4-FFF2-40B4-BE49-F238E27FC236}">
                <a16:creationId xmlns:a16="http://schemas.microsoft.com/office/drawing/2014/main" id="{C148A255-FCCA-6F9F-DB83-C83B681AA89C}"/>
              </a:ext>
            </a:extLst>
          </p:cNvPr>
          <p:cNvPicPr preferRelativeResize="0"/>
          <p:nvPr/>
        </p:nvPicPr>
        <p:blipFill rotWithShape="1">
          <a:blip r:embed="rId2">
            <a:alphaModFix/>
          </a:blip>
          <a:srcRect/>
          <a:stretch/>
        </p:blipFill>
        <p:spPr>
          <a:xfrm>
            <a:off x="357352" y="191626"/>
            <a:ext cx="1135117" cy="1342884"/>
          </a:xfrm>
          <a:prstGeom prst="rect">
            <a:avLst/>
          </a:prstGeom>
          <a:noFill/>
          <a:ln>
            <a:noFill/>
          </a:ln>
        </p:spPr>
      </p:pic>
      <p:sp>
        <p:nvSpPr>
          <p:cNvPr id="6" name="TextBox 5">
            <a:extLst>
              <a:ext uri="{FF2B5EF4-FFF2-40B4-BE49-F238E27FC236}">
                <a16:creationId xmlns:a16="http://schemas.microsoft.com/office/drawing/2014/main" id="{F27E7FD5-6000-72C1-A673-100989B97BCA}"/>
              </a:ext>
            </a:extLst>
          </p:cNvPr>
          <p:cNvSpPr txBox="1"/>
          <p:nvPr/>
        </p:nvSpPr>
        <p:spPr>
          <a:xfrm rot="10800000" flipH="1" flipV="1">
            <a:off x="2306421" y="552320"/>
            <a:ext cx="7393858" cy="1077218"/>
          </a:xfrm>
          <a:prstGeom prst="rect">
            <a:avLst/>
          </a:prstGeom>
          <a:noFill/>
        </p:spPr>
        <p:txBody>
          <a:bodyPr wrap="square" rtlCol="0">
            <a:spAutoFit/>
          </a:bodyPr>
          <a:lstStyle/>
          <a:p>
            <a:pPr algn="ctr"/>
            <a:r>
              <a:rPr lang="en-GB" sz="3200" b="1" dirty="0">
                <a:solidFill>
                  <a:srgbClr val="FF0000"/>
                </a:solidFill>
                <a:latin typeface="Times New Roman" panose="02020603050405020304" pitchFamily="18" charset="0"/>
                <a:cs typeface="Times New Roman" panose="02020603050405020304" pitchFamily="18" charset="0"/>
              </a:rPr>
              <a:t>Module 4 – Administration &amp; Analytics Dashboard</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7" name="Google Shape;154;p18">
            <a:extLst>
              <a:ext uri="{FF2B5EF4-FFF2-40B4-BE49-F238E27FC236}">
                <a16:creationId xmlns:a16="http://schemas.microsoft.com/office/drawing/2014/main" id="{FC901614-4B1F-5DC0-96FC-9C520CB09A50}"/>
              </a:ext>
            </a:extLst>
          </p:cNvPr>
          <p:cNvPicPr preferRelativeResize="0"/>
          <p:nvPr/>
        </p:nvPicPr>
        <p:blipFill rotWithShape="1">
          <a:blip r:embed="rId3">
            <a:alphaModFix/>
          </a:blip>
          <a:srcRect/>
          <a:stretch/>
        </p:blipFill>
        <p:spPr>
          <a:xfrm>
            <a:off x="10514231" y="191626"/>
            <a:ext cx="1520114" cy="1342884"/>
          </a:xfrm>
          <a:prstGeom prst="rect">
            <a:avLst/>
          </a:prstGeom>
          <a:noFill/>
          <a:ln>
            <a:noFill/>
          </a:ln>
        </p:spPr>
      </p:pic>
      <p:sp>
        <p:nvSpPr>
          <p:cNvPr id="3" name="TextBox 2">
            <a:extLst>
              <a:ext uri="{FF2B5EF4-FFF2-40B4-BE49-F238E27FC236}">
                <a16:creationId xmlns:a16="http://schemas.microsoft.com/office/drawing/2014/main" id="{5D0D779E-4B97-FCF9-4695-19866C75D718}"/>
              </a:ext>
            </a:extLst>
          </p:cNvPr>
          <p:cNvSpPr txBox="1"/>
          <p:nvPr/>
        </p:nvSpPr>
        <p:spPr>
          <a:xfrm>
            <a:off x="1160206" y="2025445"/>
            <a:ext cx="9920749" cy="419755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Provide administrators with a centralized dashboard for monitoring hospital operations, appointments, staff activities, and resource utilization. </a:t>
            </a:r>
          </a:p>
          <a:p>
            <a:pPr marL="285750" indent="-285750">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Generate detailed reports and analytics on patient visits, appointment trends, staff performance, and resource usage. </a:t>
            </a:r>
          </a:p>
          <a:p>
            <a:pPr marL="285750" indent="-285750">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Manage user accounts, access permissions, and system settings to ensure secure and controlled system operation. </a:t>
            </a:r>
          </a:p>
          <a:p>
            <a:pPr marL="285750" indent="-285750">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Display real-time statistics and performance indicators through charts, graphs, and dashboards for informed decision-making. </a:t>
            </a:r>
          </a:p>
          <a:p>
            <a:pPr marL="285750" indent="-285750">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Support strategic planning and operational improvements by providing data-driven insights and comprehensive hospital analytics. </a:t>
            </a:r>
          </a:p>
        </p:txBody>
      </p:sp>
    </p:spTree>
    <p:extLst>
      <p:ext uri="{BB962C8B-B14F-4D97-AF65-F5344CB8AC3E}">
        <p14:creationId xmlns:p14="http://schemas.microsoft.com/office/powerpoint/2010/main" val="467320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D0D3ACB-4A9F-055F-0D7F-347A585B0BB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pic>
        <p:nvPicPr>
          <p:cNvPr id="4" name="Picture 3">
            <a:extLst>
              <a:ext uri="{FF2B5EF4-FFF2-40B4-BE49-F238E27FC236}">
                <a16:creationId xmlns:a16="http://schemas.microsoft.com/office/drawing/2014/main" id="{B99DB7A2-A1F5-2A5C-731D-19B217B6C5E0}"/>
              </a:ext>
            </a:extLst>
          </p:cNvPr>
          <p:cNvPicPr>
            <a:picLocks noChangeAspect="1"/>
          </p:cNvPicPr>
          <p:nvPr/>
        </p:nvPicPr>
        <p:blipFill>
          <a:blip r:embed="rId2"/>
          <a:stretch>
            <a:fillRect/>
          </a:stretch>
        </p:blipFill>
        <p:spPr>
          <a:xfrm>
            <a:off x="344129" y="837097"/>
            <a:ext cx="11357777" cy="5183806"/>
          </a:xfrm>
          <a:prstGeom prst="rect">
            <a:avLst/>
          </a:prstGeom>
        </p:spPr>
      </p:pic>
    </p:spTree>
    <p:extLst>
      <p:ext uri="{BB962C8B-B14F-4D97-AF65-F5344CB8AC3E}">
        <p14:creationId xmlns:p14="http://schemas.microsoft.com/office/powerpoint/2010/main" val="39311006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965FF-E918-5D52-9276-28862F6E840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C0807A-DAA7-B65C-E6CA-755E754DD81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pic>
        <p:nvPicPr>
          <p:cNvPr id="5" name="Google Shape;153;p18">
            <a:extLst>
              <a:ext uri="{FF2B5EF4-FFF2-40B4-BE49-F238E27FC236}">
                <a16:creationId xmlns:a16="http://schemas.microsoft.com/office/drawing/2014/main" id="{7F64FC27-3082-4E7D-E935-CB170F8ACE60}"/>
              </a:ext>
            </a:extLst>
          </p:cNvPr>
          <p:cNvPicPr preferRelativeResize="0"/>
          <p:nvPr/>
        </p:nvPicPr>
        <p:blipFill rotWithShape="1">
          <a:blip r:embed="rId2">
            <a:alphaModFix/>
          </a:blip>
          <a:srcRect/>
          <a:stretch/>
        </p:blipFill>
        <p:spPr>
          <a:xfrm>
            <a:off x="357352" y="191626"/>
            <a:ext cx="1135117" cy="1342884"/>
          </a:xfrm>
          <a:prstGeom prst="rect">
            <a:avLst/>
          </a:prstGeom>
          <a:noFill/>
          <a:ln>
            <a:noFill/>
          </a:ln>
        </p:spPr>
      </p:pic>
      <p:sp>
        <p:nvSpPr>
          <p:cNvPr id="6" name="TextBox 5">
            <a:extLst>
              <a:ext uri="{FF2B5EF4-FFF2-40B4-BE49-F238E27FC236}">
                <a16:creationId xmlns:a16="http://schemas.microsoft.com/office/drawing/2014/main" id="{C48C940B-73F3-9C12-48B2-D6849C26C7F5}"/>
              </a:ext>
            </a:extLst>
          </p:cNvPr>
          <p:cNvSpPr txBox="1"/>
          <p:nvPr/>
        </p:nvSpPr>
        <p:spPr>
          <a:xfrm rot="10800000" flipH="1" flipV="1">
            <a:off x="2306421" y="552320"/>
            <a:ext cx="7393858" cy="1077218"/>
          </a:xfrm>
          <a:prstGeom prst="rect">
            <a:avLst/>
          </a:prstGeom>
          <a:noFill/>
        </p:spPr>
        <p:txBody>
          <a:bodyPr wrap="square" rtlCol="0">
            <a:spAutoFit/>
          </a:bodyPr>
          <a:lstStyle/>
          <a:p>
            <a:pPr algn="ctr"/>
            <a:r>
              <a:rPr lang="en-GB" sz="3200" b="1" dirty="0">
                <a:solidFill>
                  <a:srgbClr val="FF0000"/>
                </a:solidFill>
                <a:latin typeface="Times New Roman" panose="02020603050405020304" pitchFamily="18" charset="0"/>
                <a:cs typeface="Times New Roman" panose="02020603050405020304" pitchFamily="18" charset="0"/>
              </a:rPr>
              <a:t>Module 5 – Reports &amp; Performance Analytics</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7" name="Google Shape;154;p18">
            <a:extLst>
              <a:ext uri="{FF2B5EF4-FFF2-40B4-BE49-F238E27FC236}">
                <a16:creationId xmlns:a16="http://schemas.microsoft.com/office/drawing/2014/main" id="{8EF11CC4-BAF9-7A75-39F1-4438DD6B757B}"/>
              </a:ext>
            </a:extLst>
          </p:cNvPr>
          <p:cNvPicPr preferRelativeResize="0"/>
          <p:nvPr/>
        </p:nvPicPr>
        <p:blipFill rotWithShape="1">
          <a:blip r:embed="rId3">
            <a:alphaModFix/>
          </a:blip>
          <a:srcRect/>
          <a:stretch/>
        </p:blipFill>
        <p:spPr>
          <a:xfrm>
            <a:off x="10514231" y="191626"/>
            <a:ext cx="1520114" cy="1342884"/>
          </a:xfrm>
          <a:prstGeom prst="rect">
            <a:avLst/>
          </a:prstGeom>
          <a:noFill/>
          <a:ln>
            <a:noFill/>
          </a:ln>
        </p:spPr>
      </p:pic>
      <p:sp>
        <p:nvSpPr>
          <p:cNvPr id="3" name="TextBox 2">
            <a:extLst>
              <a:ext uri="{FF2B5EF4-FFF2-40B4-BE49-F238E27FC236}">
                <a16:creationId xmlns:a16="http://schemas.microsoft.com/office/drawing/2014/main" id="{C68AEE5C-9EC3-4981-0D4D-B5C79CAF2805}"/>
              </a:ext>
            </a:extLst>
          </p:cNvPr>
          <p:cNvSpPr txBox="1"/>
          <p:nvPr/>
        </p:nvSpPr>
        <p:spPr>
          <a:xfrm>
            <a:off x="1160206" y="2025445"/>
            <a:ext cx="9920749" cy="419755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Generate comprehensive appointment reports, including scheduled, completed, </a:t>
            </a:r>
            <a:r>
              <a:rPr lang="en-GB" sz="1800" dirty="0" err="1">
                <a:latin typeface="Times New Roman" panose="02020603050405020304" pitchFamily="18" charset="0"/>
                <a:cs typeface="Times New Roman" panose="02020603050405020304" pitchFamily="18" charset="0"/>
              </a:rPr>
              <a:t>canceled</a:t>
            </a:r>
            <a:r>
              <a:rPr lang="en-GB" sz="1800" dirty="0">
                <a:latin typeface="Times New Roman" panose="02020603050405020304" pitchFamily="18" charset="0"/>
                <a:cs typeface="Times New Roman" panose="02020603050405020304" pitchFamily="18" charset="0"/>
              </a:rPr>
              <a:t>, rescheduled, and missed appointments, with filtering options based on date, department, doctor, and patient demographics.</a:t>
            </a:r>
          </a:p>
          <a:p>
            <a:pPr marL="285750" indent="-285750">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Track and evaluate doctor and staff performance by monitoring consultation counts, working hours, attendance records, patient handling capacity, shift allocations, and overall productivity metrics.</a:t>
            </a:r>
          </a:p>
          <a:p>
            <a:pPr marL="285750" indent="-285750">
              <a:lnSpc>
                <a:spcPct val="150000"/>
              </a:lnSpc>
              <a:buFont typeface="Wingdings" panose="05000000000000000000" pitchFamily="2" charset="2"/>
              <a:buChar char="Ø"/>
            </a:pPr>
            <a:r>
              <a:rPr lang="en-GB" sz="1800" dirty="0" err="1">
                <a:latin typeface="Times New Roman" panose="02020603050405020304" pitchFamily="18" charset="0"/>
                <a:cs typeface="Times New Roman" panose="02020603050405020304" pitchFamily="18" charset="0"/>
              </a:rPr>
              <a:t>Analyze</a:t>
            </a:r>
            <a:r>
              <a:rPr lang="en-GB" sz="1800" dirty="0">
                <a:latin typeface="Times New Roman" panose="02020603050405020304" pitchFamily="18" charset="0"/>
                <a:cs typeface="Times New Roman" panose="02020603050405020304" pitchFamily="18" charset="0"/>
              </a:rPr>
              <a:t> hospital resource utilization through detailed reports on room occupancy, equipment usage, resource availability, maintenance schedules, and allocation efficiency to ensure optimal resource management.</a:t>
            </a:r>
          </a:p>
          <a:p>
            <a:pPr marL="285750" indent="-285750">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Provide advanced analytical insights into patient flow, peak service hours, department-wise demand, appointment trends, and operational performance to support strategic planning and decision-making.</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65156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961F79-D083-2B77-F983-3D9FFF93EB8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pic>
        <p:nvPicPr>
          <p:cNvPr id="4" name="Picture 3">
            <a:extLst>
              <a:ext uri="{FF2B5EF4-FFF2-40B4-BE49-F238E27FC236}">
                <a16:creationId xmlns:a16="http://schemas.microsoft.com/office/drawing/2014/main" id="{596F92B0-CFAD-C88B-5069-31A97BDE1E30}"/>
              </a:ext>
            </a:extLst>
          </p:cNvPr>
          <p:cNvPicPr>
            <a:picLocks noChangeAspect="1"/>
          </p:cNvPicPr>
          <p:nvPr/>
        </p:nvPicPr>
        <p:blipFill>
          <a:blip r:embed="rId2"/>
          <a:stretch>
            <a:fillRect/>
          </a:stretch>
        </p:blipFill>
        <p:spPr>
          <a:xfrm>
            <a:off x="0" y="620210"/>
            <a:ext cx="12192000" cy="5617580"/>
          </a:xfrm>
          <a:prstGeom prst="rect">
            <a:avLst/>
          </a:prstGeom>
        </p:spPr>
      </p:pic>
    </p:spTree>
    <p:extLst>
      <p:ext uri="{BB962C8B-B14F-4D97-AF65-F5344CB8AC3E}">
        <p14:creationId xmlns:p14="http://schemas.microsoft.com/office/powerpoint/2010/main" val="303923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D60C20-342B-4DF6-B30D-28D62707ACBA}"/>
              </a:ext>
            </a:extLst>
          </p:cNvPr>
          <p:cNvSpPr txBox="1"/>
          <p:nvPr/>
        </p:nvSpPr>
        <p:spPr>
          <a:xfrm>
            <a:off x="924232" y="1897626"/>
            <a:ext cx="10314039" cy="3782061"/>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The Smart Hospital Resource and Appointment Management Portal was successfully designed and developed to streamline hospital operations through the integration of patient appointment management, doctor and staff management, hospital resource management, and administrative analytics. The system effectively maintains digital records, automates appointment scheduling, and provides centralized access to hospital information.</a:t>
            </a:r>
          </a:p>
          <a:p>
            <a:pPr marL="285750" indent="-285750" algn="just">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The portal enables efficient management of patient appointments, reduces scheduling conflicts, improves doctor and staff coordination, and optimizes the utilization of hospital resources such as beds, rooms, and medical equipment. The Administration and Analytics Dashboard provides real-time monitoring and comprehensive reports that support better decision-making and operational planning.</a:t>
            </a:r>
            <a:endParaRPr lang="en-US" sz="1800" dirty="0">
              <a:latin typeface="Times New Roman" panose="02020603050405020304" pitchFamily="18" charset="0"/>
              <a:cs typeface="Times New Roman" panose="02020603050405020304" pitchFamily="18" charset="0"/>
            </a:endParaRPr>
          </a:p>
        </p:txBody>
      </p:sp>
      <p:pic>
        <p:nvPicPr>
          <p:cNvPr id="5" name="Google Shape;153;p18">
            <a:extLst>
              <a:ext uri="{FF2B5EF4-FFF2-40B4-BE49-F238E27FC236}">
                <a16:creationId xmlns:a16="http://schemas.microsoft.com/office/drawing/2014/main" id="{1F0EA8BE-F0C7-3321-BBC9-229495917D5E}"/>
              </a:ext>
            </a:extLst>
          </p:cNvPr>
          <p:cNvPicPr preferRelativeResize="0"/>
          <p:nvPr/>
        </p:nvPicPr>
        <p:blipFill rotWithShape="1">
          <a:blip r:embed="rId2">
            <a:alphaModFix/>
          </a:blip>
          <a:srcRect/>
          <a:stretch/>
        </p:blipFill>
        <p:spPr>
          <a:xfrm>
            <a:off x="357352" y="191626"/>
            <a:ext cx="1135117" cy="1342884"/>
          </a:xfrm>
          <a:prstGeom prst="rect">
            <a:avLst/>
          </a:prstGeom>
          <a:noFill/>
          <a:ln>
            <a:noFill/>
          </a:ln>
        </p:spPr>
      </p:pic>
      <p:pic>
        <p:nvPicPr>
          <p:cNvPr id="6" name="Google Shape;154;p18">
            <a:extLst>
              <a:ext uri="{FF2B5EF4-FFF2-40B4-BE49-F238E27FC236}">
                <a16:creationId xmlns:a16="http://schemas.microsoft.com/office/drawing/2014/main" id="{53F69837-E307-9DC2-6035-C9A81B54B7CF}"/>
              </a:ext>
            </a:extLst>
          </p:cNvPr>
          <p:cNvPicPr preferRelativeResize="0"/>
          <p:nvPr/>
        </p:nvPicPr>
        <p:blipFill rotWithShape="1">
          <a:blip r:embed="rId3">
            <a:alphaModFix/>
          </a:blip>
          <a:srcRect/>
          <a:stretch/>
        </p:blipFill>
        <p:spPr>
          <a:xfrm>
            <a:off x="10514231" y="191626"/>
            <a:ext cx="1520114" cy="1342884"/>
          </a:xfrm>
          <a:prstGeom prst="rect">
            <a:avLst/>
          </a:prstGeom>
          <a:noFill/>
          <a:ln>
            <a:noFill/>
          </a:ln>
        </p:spPr>
      </p:pic>
      <p:sp>
        <p:nvSpPr>
          <p:cNvPr id="7" name="TextBox 6">
            <a:extLst>
              <a:ext uri="{FF2B5EF4-FFF2-40B4-BE49-F238E27FC236}">
                <a16:creationId xmlns:a16="http://schemas.microsoft.com/office/drawing/2014/main" id="{E4DEA357-09EF-6BEF-B2CC-1AFC0D46B4ED}"/>
              </a:ext>
            </a:extLst>
          </p:cNvPr>
          <p:cNvSpPr txBox="1"/>
          <p:nvPr/>
        </p:nvSpPr>
        <p:spPr>
          <a:xfrm>
            <a:off x="4859594" y="570680"/>
            <a:ext cx="3564194" cy="584775"/>
          </a:xfrm>
          <a:prstGeom prst="rect">
            <a:avLst/>
          </a:prstGeom>
          <a:noFill/>
        </p:spPr>
        <p:txBody>
          <a:bodyPr wrap="square" rtlCol="0">
            <a:spAutoFit/>
          </a:bodyPr>
          <a:lstStyle/>
          <a:p>
            <a:r>
              <a:rPr lang="en-IN" sz="3200" b="1" dirty="0">
                <a:solidFill>
                  <a:srgbClr val="FF0000"/>
                </a:solidFill>
                <a:latin typeface="Times New Roman" panose="02020603050405020304" pitchFamily="18" charset="0"/>
                <a:cs typeface="Times New Roman" panose="02020603050405020304" pitchFamily="18" charset="0"/>
              </a:rPr>
              <a:t>RESULT</a:t>
            </a:r>
          </a:p>
        </p:txBody>
      </p:sp>
    </p:spTree>
    <p:extLst>
      <p:ext uri="{BB962C8B-B14F-4D97-AF65-F5344CB8AC3E}">
        <p14:creationId xmlns:p14="http://schemas.microsoft.com/office/powerpoint/2010/main" val="1443491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085F2A-4013-101C-ECB4-2E3324939E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
        <p:nvSpPr>
          <p:cNvPr id="3" name="TextBox 2">
            <a:extLst>
              <a:ext uri="{FF2B5EF4-FFF2-40B4-BE49-F238E27FC236}">
                <a16:creationId xmlns:a16="http://schemas.microsoft.com/office/drawing/2014/main" id="{C605275C-95FE-2A59-375A-F7D31CCC55DC}"/>
              </a:ext>
            </a:extLst>
          </p:cNvPr>
          <p:cNvSpPr txBox="1"/>
          <p:nvPr/>
        </p:nvSpPr>
        <p:spPr>
          <a:xfrm>
            <a:off x="963561" y="1848365"/>
            <a:ext cx="10111030" cy="4197559"/>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Integration with Artificial Intelligence (AI): Implement AI-based appointment scheduling, doctor recommendations, and patient flow prediction to improve hospital efficiency.</a:t>
            </a:r>
          </a:p>
          <a:p>
            <a:pPr marL="285750" indent="-285750" algn="just">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Mobile Application Support: Develop Android and iOS mobile applications that allow patients and hospital staff to access the system anytime and anywhere.</a:t>
            </a:r>
          </a:p>
          <a:p>
            <a:pPr marL="285750" indent="-285750" algn="just">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Online Consultation and Telemedicine: Integrate video consultation features to enable remote healthcare services and virtual doctor appointments.</a:t>
            </a:r>
          </a:p>
          <a:p>
            <a:pPr marL="285750" indent="-285750" algn="just">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Real-Time Notifications: Enhance the system with SMS, email, and mobile push notifications for appointment reminders, schedule updates, and emergency alerts.</a:t>
            </a:r>
          </a:p>
          <a:p>
            <a:pPr marL="285750" indent="-285750" algn="just">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Electronic Health Records (EHR) Integration: Connect the portal with electronic health record systems to provide comprehensive patient medical history and improve clinical decision-making.</a:t>
            </a:r>
            <a:endParaRPr lang="en-US" sz="1800" dirty="0">
              <a:latin typeface="Times New Roman" panose="02020603050405020304" pitchFamily="18" charset="0"/>
              <a:cs typeface="Times New Roman" panose="02020603050405020304" pitchFamily="18" charset="0"/>
            </a:endParaRPr>
          </a:p>
        </p:txBody>
      </p:sp>
      <p:pic>
        <p:nvPicPr>
          <p:cNvPr id="4" name="Google Shape;153;p18">
            <a:extLst>
              <a:ext uri="{FF2B5EF4-FFF2-40B4-BE49-F238E27FC236}">
                <a16:creationId xmlns:a16="http://schemas.microsoft.com/office/drawing/2014/main" id="{7EEB8288-8752-FE0D-4770-328FC1DDF765}"/>
              </a:ext>
            </a:extLst>
          </p:cNvPr>
          <p:cNvPicPr preferRelativeResize="0"/>
          <p:nvPr/>
        </p:nvPicPr>
        <p:blipFill rotWithShape="1">
          <a:blip r:embed="rId2">
            <a:alphaModFix/>
          </a:blip>
          <a:srcRect/>
          <a:stretch/>
        </p:blipFill>
        <p:spPr>
          <a:xfrm>
            <a:off x="357352" y="191626"/>
            <a:ext cx="1135117" cy="1342884"/>
          </a:xfrm>
          <a:prstGeom prst="rect">
            <a:avLst/>
          </a:prstGeom>
          <a:noFill/>
          <a:ln>
            <a:noFill/>
          </a:ln>
        </p:spPr>
      </p:pic>
      <p:pic>
        <p:nvPicPr>
          <p:cNvPr id="5" name="Google Shape;154;p18">
            <a:extLst>
              <a:ext uri="{FF2B5EF4-FFF2-40B4-BE49-F238E27FC236}">
                <a16:creationId xmlns:a16="http://schemas.microsoft.com/office/drawing/2014/main" id="{756BCC52-1B11-72EF-2554-CCCC6058AD18}"/>
              </a:ext>
            </a:extLst>
          </p:cNvPr>
          <p:cNvPicPr preferRelativeResize="0"/>
          <p:nvPr/>
        </p:nvPicPr>
        <p:blipFill rotWithShape="1">
          <a:blip r:embed="rId3">
            <a:alphaModFix/>
          </a:blip>
          <a:srcRect/>
          <a:stretch/>
        </p:blipFill>
        <p:spPr>
          <a:xfrm>
            <a:off x="10314534" y="191626"/>
            <a:ext cx="1520114" cy="1342884"/>
          </a:xfrm>
          <a:prstGeom prst="rect">
            <a:avLst/>
          </a:prstGeom>
          <a:noFill/>
          <a:ln>
            <a:noFill/>
          </a:ln>
        </p:spPr>
      </p:pic>
      <p:sp>
        <p:nvSpPr>
          <p:cNvPr id="6" name="TextBox 5">
            <a:extLst>
              <a:ext uri="{FF2B5EF4-FFF2-40B4-BE49-F238E27FC236}">
                <a16:creationId xmlns:a16="http://schemas.microsoft.com/office/drawing/2014/main" id="{6F0F8A43-9A9C-9DA0-125D-0A5AE4922492}"/>
              </a:ext>
            </a:extLst>
          </p:cNvPr>
          <p:cNvSpPr txBox="1"/>
          <p:nvPr/>
        </p:nvSpPr>
        <p:spPr>
          <a:xfrm>
            <a:off x="4041553" y="505481"/>
            <a:ext cx="6272981" cy="584775"/>
          </a:xfrm>
          <a:prstGeom prst="rect">
            <a:avLst/>
          </a:prstGeom>
          <a:noFill/>
        </p:spPr>
        <p:txBody>
          <a:bodyPr wrap="square" rtlCol="0">
            <a:spAutoFit/>
          </a:bodyPr>
          <a:lstStyle/>
          <a:p>
            <a:r>
              <a:rPr lang="en-IN" sz="3200" b="1" dirty="0">
                <a:solidFill>
                  <a:srgbClr val="FF0000"/>
                </a:solidFill>
                <a:latin typeface="Times New Roman" panose="02020603050405020304" pitchFamily="18" charset="0"/>
                <a:cs typeface="Times New Roman" panose="02020603050405020304" pitchFamily="18" charset="0"/>
              </a:rPr>
              <a:t>FUTURE</a:t>
            </a:r>
            <a:r>
              <a:rPr lang="en-IN" sz="3200" dirty="0">
                <a:solidFill>
                  <a:srgbClr val="FF0000"/>
                </a:solidFill>
                <a:latin typeface="Times New Roman" panose="02020603050405020304" pitchFamily="18" charset="0"/>
                <a:cs typeface="Times New Roman" panose="02020603050405020304" pitchFamily="18" charset="0"/>
              </a:rPr>
              <a:t> </a:t>
            </a:r>
            <a:r>
              <a:rPr lang="en-IN" sz="3200" b="1" dirty="0">
                <a:solidFill>
                  <a:srgbClr val="FF0000"/>
                </a:solidFill>
                <a:latin typeface="Times New Roman" panose="02020603050405020304" pitchFamily="18" charset="0"/>
                <a:cs typeface="Times New Roman" panose="02020603050405020304" pitchFamily="18" charset="0"/>
              </a:rPr>
              <a:t>SCOPE</a:t>
            </a:r>
          </a:p>
        </p:txBody>
      </p:sp>
    </p:spTree>
    <p:extLst>
      <p:ext uri="{BB962C8B-B14F-4D97-AF65-F5344CB8AC3E}">
        <p14:creationId xmlns:p14="http://schemas.microsoft.com/office/powerpoint/2010/main" val="42476582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EEA031-2278-8148-469B-1D695309614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pic>
        <p:nvPicPr>
          <p:cNvPr id="3" name="Google Shape;153;p18">
            <a:extLst>
              <a:ext uri="{FF2B5EF4-FFF2-40B4-BE49-F238E27FC236}">
                <a16:creationId xmlns:a16="http://schemas.microsoft.com/office/drawing/2014/main" id="{7C62A103-9472-F13D-B947-568BD1237F7F}"/>
              </a:ext>
            </a:extLst>
          </p:cNvPr>
          <p:cNvPicPr preferRelativeResize="0"/>
          <p:nvPr/>
        </p:nvPicPr>
        <p:blipFill rotWithShape="1">
          <a:blip r:embed="rId2">
            <a:alphaModFix/>
          </a:blip>
          <a:srcRect/>
          <a:stretch/>
        </p:blipFill>
        <p:spPr>
          <a:xfrm>
            <a:off x="357352" y="191626"/>
            <a:ext cx="1135117" cy="1342884"/>
          </a:xfrm>
          <a:prstGeom prst="rect">
            <a:avLst/>
          </a:prstGeom>
          <a:noFill/>
          <a:ln>
            <a:noFill/>
          </a:ln>
        </p:spPr>
      </p:pic>
      <p:pic>
        <p:nvPicPr>
          <p:cNvPr id="4" name="Google Shape;154;p18">
            <a:extLst>
              <a:ext uri="{FF2B5EF4-FFF2-40B4-BE49-F238E27FC236}">
                <a16:creationId xmlns:a16="http://schemas.microsoft.com/office/drawing/2014/main" id="{0880ADA3-E716-A35B-859D-3E4E51016F68}"/>
              </a:ext>
            </a:extLst>
          </p:cNvPr>
          <p:cNvPicPr preferRelativeResize="0"/>
          <p:nvPr/>
        </p:nvPicPr>
        <p:blipFill rotWithShape="1">
          <a:blip r:embed="rId3">
            <a:alphaModFix/>
          </a:blip>
          <a:srcRect/>
          <a:stretch/>
        </p:blipFill>
        <p:spPr>
          <a:xfrm>
            <a:off x="10514231" y="191626"/>
            <a:ext cx="1520114" cy="1342884"/>
          </a:xfrm>
          <a:prstGeom prst="rect">
            <a:avLst/>
          </a:prstGeom>
          <a:noFill/>
          <a:ln>
            <a:noFill/>
          </a:ln>
        </p:spPr>
      </p:pic>
      <p:sp>
        <p:nvSpPr>
          <p:cNvPr id="5" name="TextBox 4">
            <a:extLst>
              <a:ext uri="{FF2B5EF4-FFF2-40B4-BE49-F238E27FC236}">
                <a16:creationId xmlns:a16="http://schemas.microsoft.com/office/drawing/2014/main" id="{91A7EEC2-4A80-BDC4-C77E-D0362313A1DE}"/>
              </a:ext>
            </a:extLst>
          </p:cNvPr>
          <p:cNvSpPr txBox="1"/>
          <p:nvPr/>
        </p:nvSpPr>
        <p:spPr>
          <a:xfrm>
            <a:off x="4316023" y="363793"/>
            <a:ext cx="7718322" cy="584775"/>
          </a:xfrm>
          <a:prstGeom prst="rect">
            <a:avLst/>
          </a:prstGeom>
          <a:noFill/>
        </p:spPr>
        <p:txBody>
          <a:bodyPr wrap="square" rtlCol="0">
            <a:spAutoFit/>
          </a:bodyPr>
          <a:lstStyle/>
          <a:p>
            <a:r>
              <a:rPr lang="en-IN" sz="3200" b="1" dirty="0">
                <a:solidFill>
                  <a:srgbClr val="FF0000"/>
                </a:solidFill>
                <a:latin typeface="Times New Roman" panose="02020603050405020304" pitchFamily="18" charset="0"/>
                <a:cs typeface="Times New Roman" panose="02020603050405020304" pitchFamily="18" charset="0"/>
              </a:rPr>
              <a:t>CONCLUSION</a:t>
            </a:r>
          </a:p>
        </p:txBody>
      </p:sp>
      <p:sp>
        <p:nvSpPr>
          <p:cNvPr id="8" name="TextBox 7">
            <a:extLst>
              <a:ext uri="{FF2B5EF4-FFF2-40B4-BE49-F238E27FC236}">
                <a16:creationId xmlns:a16="http://schemas.microsoft.com/office/drawing/2014/main" id="{505089F9-DDD0-7B20-55FE-C95462BACCB0}"/>
              </a:ext>
            </a:extLst>
          </p:cNvPr>
          <p:cNvSpPr txBox="1"/>
          <p:nvPr/>
        </p:nvSpPr>
        <p:spPr>
          <a:xfrm>
            <a:off x="924910" y="1706677"/>
            <a:ext cx="10392019" cy="4613058"/>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The Smart Hospital Resource and Appointment Management Portal provides an efficient and centralized solution for managing hospital operations, including patient appointments, doctor and staff schedules, hospital resources, and administrative activities. The system replaces traditional manual processes with a digital platform that improves accuracy, reduces paperwork, and enhances overall operational efficiency.</a:t>
            </a:r>
          </a:p>
          <a:p>
            <a:pPr marL="285750" indent="-285750" algn="just">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By integrating appointment management, workforce coordination, resource allocation, and analytical reporting into a single system, the portal helps hospitals optimize resource utilization, minimize scheduling conflicts, and improve patient satisfaction. The Administration and Analytics Dashboard further supports informed decision-making through real-time monitoring and comprehensive reports.</a:t>
            </a:r>
          </a:p>
          <a:p>
            <a:pPr marL="285750" indent="-285750" algn="just">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Overall, the proposed system demonstrates the importance of digital transformation in healthcare management and serves as a reliable, scalable, and user-friendly solution for improving the quality and efficiency of hospital services.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0484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8A18A1-562E-EE98-D429-51AB42EFEB6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pic>
        <p:nvPicPr>
          <p:cNvPr id="3" name="Google Shape;153;p18">
            <a:extLst>
              <a:ext uri="{FF2B5EF4-FFF2-40B4-BE49-F238E27FC236}">
                <a16:creationId xmlns:a16="http://schemas.microsoft.com/office/drawing/2014/main" id="{F697D9D1-20C6-C96B-1878-E51E2083B3A9}"/>
              </a:ext>
            </a:extLst>
          </p:cNvPr>
          <p:cNvPicPr preferRelativeResize="0"/>
          <p:nvPr/>
        </p:nvPicPr>
        <p:blipFill rotWithShape="1">
          <a:blip r:embed="rId2">
            <a:alphaModFix/>
          </a:blip>
          <a:srcRect/>
          <a:stretch/>
        </p:blipFill>
        <p:spPr>
          <a:xfrm>
            <a:off x="357352" y="191626"/>
            <a:ext cx="1135117" cy="1342884"/>
          </a:xfrm>
          <a:prstGeom prst="rect">
            <a:avLst/>
          </a:prstGeom>
          <a:noFill/>
          <a:ln>
            <a:noFill/>
          </a:ln>
        </p:spPr>
      </p:pic>
      <p:pic>
        <p:nvPicPr>
          <p:cNvPr id="4" name="Google Shape;154;p18">
            <a:extLst>
              <a:ext uri="{FF2B5EF4-FFF2-40B4-BE49-F238E27FC236}">
                <a16:creationId xmlns:a16="http://schemas.microsoft.com/office/drawing/2014/main" id="{36C9F8FF-44D2-F450-B067-251155831F1B}"/>
              </a:ext>
            </a:extLst>
          </p:cNvPr>
          <p:cNvPicPr preferRelativeResize="0"/>
          <p:nvPr/>
        </p:nvPicPr>
        <p:blipFill rotWithShape="1">
          <a:blip r:embed="rId3">
            <a:alphaModFix/>
          </a:blip>
          <a:srcRect/>
          <a:stretch/>
        </p:blipFill>
        <p:spPr>
          <a:xfrm>
            <a:off x="10514231" y="191626"/>
            <a:ext cx="1520114" cy="1342884"/>
          </a:xfrm>
          <a:prstGeom prst="rect">
            <a:avLst/>
          </a:prstGeom>
          <a:noFill/>
          <a:ln>
            <a:noFill/>
          </a:ln>
        </p:spPr>
      </p:pic>
      <p:sp>
        <p:nvSpPr>
          <p:cNvPr id="5" name="TextBox 4">
            <a:extLst>
              <a:ext uri="{FF2B5EF4-FFF2-40B4-BE49-F238E27FC236}">
                <a16:creationId xmlns:a16="http://schemas.microsoft.com/office/drawing/2014/main" id="{2764C197-FBB6-C065-FBA0-3A8F4164A5FC}"/>
              </a:ext>
            </a:extLst>
          </p:cNvPr>
          <p:cNvSpPr txBox="1"/>
          <p:nvPr/>
        </p:nvSpPr>
        <p:spPr>
          <a:xfrm>
            <a:off x="924910" y="2076153"/>
            <a:ext cx="10264200" cy="3781741"/>
          </a:xfrm>
          <a:prstGeom prst="rect">
            <a:avLst/>
          </a:prstGeom>
          <a:noFill/>
        </p:spPr>
        <p:txBody>
          <a:bodyPr wrap="square" rtlCol="0">
            <a:spAutoFit/>
          </a:bodyPr>
          <a:lstStyle/>
          <a:p>
            <a:pPr marL="285750" lvl="0" indent="-285750">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Rajkumar </a:t>
            </a:r>
            <a:r>
              <a:rPr lang="en-GB" sz="1800" dirty="0" err="1">
                <a:latin typeface="Times New Roman" panose="02020603050405020304" pitchFamily="18" charset="0"/>
                <a:cs typeface="Times New Roman" panose="02020603050405020304" pitchFamily="18" charset="0"/>
              </a:rPr>
              <a:t>Buyya</a:t>
            </a:r>
            <a:r>
              <a:rPr lang="en-GB" sz="1800" dirty="0">
                <a:latin typeface="Times New Roman" panose="02020603050405020304" pitchFamily="18" charset="0"/>
                <a:cs typeface="Times New Roman" panose="02020603050405020304" pitchFamily="18" charset="0"/>
              </a:rPr>
              <a:t>, James Broberg, and Andrzej Goscinski, Cloud Computing: Principles and Paradigms, Wiley Publications, 2011.</a:t>
            </a:r>
          </a:p>
          <a:p>
            <a:pPr marL="285750" lvl="0" indent="-285750">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Ian Sommerville, Software Engineering, 10th Edition, Pearson Education, 2015.</a:t>
            </a:r>
          </a:p>
          <a:p>
            <a:pPr marL="285750" lvl="0" indent="-285750">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Roger S. Pressman and Bruce R. Maxim, Software Engineering: A Practitioner's Approach, 8th Edition, McGraw-Hill Education, 2014.</a:t>
            </a:r>
          </a:p>
          <a:p>
            <a:pPr marL="285750" lvl="0" indent="-285750">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Elmasri, R. and Navathe, S.B., Fundamentals of Database Systems, 7th Edition, Pearson Education, 2016.</a:t>
            </a:r>
          </a:p>
          <a:p>
            <a:pPr marL="285750" lvl="0" indent="-285750">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K. H. Rosen, Discrete Mathematics and Its Applications, McGraw-Hill Education, 2018.</a:t>
            </a:r>
          </a:p>
          <a:p>
            <a:pPr marL="285750" lvl="0" indent="-285750">
              <a:lnSpc>
                <a:spcPct val="150000"/>
              </a:lnSpc>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World Health Organization (WHO), Digital Health and Health Information </a:t>
            </a:r>
            <a:r>
              <a:rPr lang="en-GB" sz="1800" dirty="0" err="1">
                <a:latin typeface="Times New Roman" panose="02020603050405020304" pitchFamily="18" charset="0"/>
                <a:cs typeface="Times New Roman" panose="02020603050405020304" pitchFamily="18" charset="0"/>
              </a:rPr>
              <a:t>Systems.World</a:t>
            </a:r>
            <a:r>
              <a:rPr lang="en-GB" sz="1800" dirty="0">
                <a:latin typeface="Times New Roman" panose="02020603050405020304" pitchFamily="18" charset="0"/>
                <a:cs typeface="Times New Roman" panose="02020603050405020304" pitchFamily="18" charset="0"/>
              </a:rPr>
              <a:t> Health Organization (WHO)</a:t>
            </a:r>
            <a:endParaRPr lang="en-IN" dirty="0"/>
          </a:p>
        </p:txBody>
      </p:sp>
      <p:sp>
        <p:nvSpPr>
          <p:cNvPr id="6" name="TextBox 5">
            <a:extLst>
              <a:ext uri="{FF2B5EF4-FFF2-40B4-BE49-F238E27FC236}">
                <a16:creationId xmlns:a16="http://schemas.microsoft.com/office/drawing/2014/main" id="{33B9F2DC-9217-18B1-3398-C5AE7BE6CC10}"/>
              </a:ext>
            </a:extLst>
          </p:cNvPr>
          <p:cNvSpPr txBox="1"/>
          <p:nvPr/>
        </p:nvSpPr>
        <p:spPr>
          <a:xfrm>
            <a:off x="4640826" y="599768"/>
            <a:ext cx="6351638" cy="584775"/>
          </a:xfrm>
          <a:prstGeom prst="rect">
            <a:avLst/>
          </a:prstGeom>
          <a:noFill/>
        </p:spPr>
        <p:txBody>
          <a:bodyPr wrap="square" rtlCol="0">
            <a:spAutoFit/>
          </a:bodyPr>
          <a:lstStyle/>
          <a:p>
            <a:r>
              <a:rPr lang="en-IN" sz="3200" dirty="0">
                <a:solidFill>
                  <a:srgbClr val="FF0000"/>
                </a:solidFill>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5127638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9" name="Google Shape;259;p2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pic>
        <p:nvPicPr>
          <p:cNvPr id="260" name="Google Shape;260;p27"/>
          <p:cNvPicPr preferRelativeResize="0"/>
          <p:nvPr/>
        </p:nvPicPr>
        <p:blipFill rotWithShape="1">
          <a:blip r:embed="rId3">
            <a:alphaModFix/>
          </a:blip>
          <a:srcRect/>
          <a:stretch/>
        </p:blipFill>
        <p:spPr>
          <a:xfrm>
            <a:off x="10062286" y="393171"/>
            <a:ext cx="1520114" cy="1342884"/>
          </a:xfrm>
          <a:prstGeom prst="rect">
            <a:avLst/>
          </a:prstGeom>
          <a:noFill/>
          <a:ln>
            <a:noFill/>
          </a:ln>
        </p:spPr>
      </p:pic>
      <p:pic>
        <p:nvPicPr>
          <p:cNvPr id="261" name="Google Shape;261;p27"/>
          <p:cNvPicPr preferRelativeResize="0"/>
          <p:nvPr/>
        </p:nvPicPr>
        <p:blipFill rotWithShape="1">
          <a:blip r:embed="rId4">
            <a:alphaModFix/>
          </a:blip>
          <a:srcRect/>
          <a:stretch/>
        </p:blipFill>
        <p:spPr>
          <a:xfrm>
            <a:off x="609600" y="501648"/>
            <a:ext cx="1135117" cy="1342884"/>
          </a:xfrm>
          <a:prstGeom prst="rect">
            <a:avLst/>
          </a:prstGeom>
          <a:noFill/>
          <a:ln>
            <a:noFill/>
          </a:ln>
        </p:spPr>
      </p:pic>
      <p:pic>
        <p:nvPicPr>
          <p:cNvPr id="262" name="Google Shape;262;p27"/>
          <p:cNvPicPr preferRelativeResize="0"/>
          <p:nvPr/>
        </p:nvPicPr>
        <p:blipFill rotWithShape="1">
          <a:blip r:embed="rId5">
            <a:alphaModFix/>
          </a:blip>
          <a:srcRect/>
          <a:stretch/>
        </p:blipFill>
        <p:spPr>
          <a:xfrm>
            <a:off x="1926102" y="2057875"/>
            <a:ext cx="7858921" cy="3731559"/>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1267</TotalTime>
  <Words>1701</Words>
  <Application>Microsoft Office PowerPoint</Application>
  <PresentationFormat>Widescreen</PresentationFormat>
  <Paragraphs>151</Paragraphs>
  <Slides>22</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Times New Roman</vt:lpstr>
      <vt:lpstr>Wingdings</vt:lpstr>
      <vt:lpstr>Office Theme</vt:lpstr>
      <vt:lpstr> Team -  09 CSA4351 –Internet Programming for Web App Development</vt:lpstr>
      <vt:lpstr>INTRODUCTION</vt:lpstr>
      <vt:lpstr>OBJECTIVES</vt:lpstr>
      <vt:lpstr>PROBLEM STATEMENT</vt:lpstr>
      <vt:lpstr>METHODOLOGY</vt:lpstr>
      <vt:lpstr>PowerPoint Presentation</vt:lpstr>
      <vt:lpstr>PowerPoint Presentation</vt:lpstr>
      <vt:lpstr>Module 1 –Patient Appointment Management </vt:lpstr>
      <vt:lpstr>PowerPoint Presentation</vt:lpstr>
      <vt:lpstr>PowerPoint Presentation</vt:lpstr>
      <vt:lpstr>PowerPoint Presentation</vt:lpstr>
      <vt:lpstr>Module 3 — Hospital Resource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Siva Kumar</dc:creator>
  <cp:lastModifiedBy>sowmya b</cp:lastModifiedBy>
  <cp:revision>27</cp:revision>
  <dcterms:modified xsi:type="dcterms:W3CDTF">2026-06-23T05:04:39Z</dcterms:modified>
</cp:coreProperties>
</file>